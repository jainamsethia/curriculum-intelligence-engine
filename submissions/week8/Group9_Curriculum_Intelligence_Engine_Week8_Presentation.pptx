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7675c4-06bc-113d-ed57-77fcce2924c9}">
          <p14:sldIdLst>
            <p14:sldId id="256"/>
          </p14:sldIdLst>
        </p14:section>
        <p14:section name="Problem and data" id="{7f51c43d-30da-4c50-bf62-5732c1ffba90}">
          <p14:sldIdLst>
            <p14:sldId id="257"/>
            <p14:sldId id="258"/>
          </p14:sldIdLst>
        </p14:section>
        <p14:section name="System" id="{d6ac3695-0399-b1b5-55a8-50cfef27ddf6}">
          <p14:sldIdLst>
            <p14:sldId id="259"/>
            <p14:sldId id="260"/>
          </p14:sldIdLst>
        </p14:section>
        <p14:section name="Results" id="{bc3fb036-e2fc-e7dd-55e8-9b852e0e1f3a}">
          <p14:sldIdLst>
            <p14:sldId id="261"/>
            <p14:sldId id="262"/>
            <p14:sldId id="263"/>
          </p14:sldIdLst>
        </p14:section>
        <p14:section name="Demo and integration" id="{09c76031-b537-a797-aaa7-20c2d3c8450e}">
          <p14:sldIdLst>
            <p14:sldId id="264"/>
            <p14:sldId id="265"/>
          </p14:sldIdLst>
        </p14:section>
        <p14:section name="Responsible AI and close" id="{08c382b1-1d9e-43a5-a9f5-024a303a46f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B34"/>
                </a:solidFill>
                <a:latin typeface="+mn-lt"/>
              </a:defRPr>
            </a:pPr>
            <a:r>
              <a:rPr sz="1200" b="0" i="0" u="none" strike="noStrike">
                <a:solidFill>
                  <a:srgbClr val="1B2B34"/>
                </a:solidFill>
                <a:latin typeface="+mn-lt"/>
              </a:rPr>
              <a:t>Course versions per programme</a:t>
            </a:r>
          </a:p>
        </c:rich>
      </c:tx>
      <c:layout/>
      <c:overlay val="0"/>
    </c:title>
    <c:autoTitleDeleted val="0"/>
    <c:plotArea>
      <c:layout/>
      <c:barChart>
        <c:barDir val="bar"/>
        <c:grouping val="clustered"/>
        <c:varyColors val="0"/>
        <c:ser>
          <c:idx val="0"/>
          <c:order val="0"/>
          <c:tx>
            <c:strRef>
              <c:f>Sheet1!$B$1</c:f>
              <c:strCache>
                <c:ptCount val="1"/>
                <c:pt idx="0">
                  <c:v>Course versions</c:v>
                </c:pt>
              </c:strCache>
            </c:strRef>
          </c:tx>
          <c:spPr>
            <a:solidFill>
              <a:srgbClr val="0E7C7B"/>
            </a:solidFill>
            <a:effectLst/>
          </c:spPr>
          <c:invertIfNegative val="0"/>
          <c:dLbls>
            <c:numFmt formatCode="#,##0" sourceLinked="0"/>
            <c:txPr>
              <a:bodyPr/>
              <a:lstStyle/>
              <a:p>
                <a:pPr>
                  <a:defRPr b="0" i="0" strike="noStrike" sz="1000" u="none">
                    <a:solidFill>
                      <a:srgbClr val="1B2B34"/>
                    </a:solidFill>
                    <a:latin typeface="+mn-lt"/>
                  </a:defRPr>
                </a:pPr>
              </a:p>
            </c:txPr>
            <c:showLegendKey val="0"/>
            <c:showVal val="1"/>
            <c:showCatName val="0"/>
            <c:showSerName val="0"/>
            <c:showPercent val="0"/>
            <c:showBubbleSize val="0"/>
            <c:showLeaderLines val="0"/>
          </c:dLbls>
          <c:cat>
            <c:multiLvlStrRef>
              <c:f>Sheet1!$A$2:$A$14</c:f>
              <c:multiLvlStrCache>
                <c:ptCount val="13"/>
                <c:lvl>
                  <c:pt idx="0">
                    <c:v>IBM</c:v>
                  </c:pt>
                  <c:pt idx="1">
                    <c:v>ELECTRICAL</c:v>
                  </c:pt>
                  <c:pt idx="2">
                    <c:v>EXTC</c:v>
                  </c:pt>
                  <c:pt idx="3">
                    <c:v>CSE-DS</c:v>
                  </c:pt>
                  <c:pt idx="4">
                    <c:v>COMP</c:v>
                  </c:pt>
                  <c:pt idx="5">
                    <c:v>CIVIL</c:v>
                  </c:pt>
                  <c:pt idx="6">
                    <c:v>MECHATRONICS</c:v>
                  </c:pt>
                  <c:pt idx="7">
                    <c:v>CSBS</c:v>
                  </c:pt>
                  <c:pt idx="8">
                    <c:v>CSE-CYBER</c:v>
                  </c:pt>
                  <c:pt idx="9">
                    <c:v>AI</c:v>
                  </c:pt>
                  <c:pt idx="10">
                    <c:v>IT</c:v>
                  </c:pt>
                  <c:pt idx="11">
                    <c:v>DS</c:v>
                  </c:pt>
                  <c:pt idx="12">
                    <c:v>MECHANICAL</c:v>
                  </c:pt>
                </c:lvl>
              </c:multiLvlStrCache>
            </c:multiLvlStrRef>
          </c:cat>
          <c:val>
            <c:numRef>
              <c:f>Sheet1!$B$2:$B$14</c:f>
              <c:numCache>
                <c:formatCode>General</c:formatCode>
                <c:ptCount val="13"/>
                <c:pt idx="0">
                  <c:v>1</c:v>
                </c:pt>
                <c:pt idx="1">
                  <c:v>8</c:v>
                </c:pt>
                <c:pt idx="2">
                  <c:v>169</c:v>
                </c:pt>
                <c:pt idx="3">
                  <c:v>202</c:v>
                </c:pt>
                <c:pt idx="4">
                  <c:v>213</c:v>
                </c:pt>
                <c:pt idx="5">
                  <c:v>234</c:v>
                </c:pt>
                <c:pt idx="6">
                  <c:v>244</c:v>
                </c:pt>
                <c:pt idx="7">
                  <c:v>248</c:v>
                </c:pt>
                <c:pt idx="8">
                  <c:v>254</c:v>
                </c:pt>
                <c:pt idx="9">
                  <c:v>258</c:v>
                </c:pt>
                <c:pt idx="10">
                  <c:v>283</c:v>
                </c:pt>
                <c:pt idx="11">
                  <c:v>394</c:v>
                </c:pt>
                <c:pt idx="12">
                  <c:v>422</c:v>
                </c:pt>
              </c:numCache>
            </c:numRef>
          </c:val>
        </c:ser>
        <c:dLbls>
          <c:numFmt formatCode="#,##0" sourceLinked="0"/>
          <c:txPr>
            <a:bodyPr/>
            <a:lstStyle/>
            <a:p>
              <a:pPr>
                <a:defRPr b="0" i="0" strike="noStrike" sz="1000" u="none">
                  <a:solidFill>
                    <a:srgbClr val="1B2B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checker v1 (Week 3)</c:v>
                </c:pt>
              </c:strCache>
            </c:strRef>
          </c:tx>
          <c:spPr>
            <a:solidFill>
              <a:srgbClr val="9AA7AE"/>
            </a:solidFill>
            <a:effectLst/>
          </c:spPr>
          <c:invertIfNegative val="0"/>
          <c:dLbls>
            <c:numFmt formatCode="0.0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cat>
            <c:multiLvlStrRef>
              <c:f>Sheet1!$A$2:$A$4</c:f>
              <c:multiLvlStrCache>
                <c:ptCount val="3"/>
                <c:lvl>
                  <c:pt idx="0">
                    <c:v>removal recall</c:v>
                  </c:pt>
                  <c:pt idx="1">
                    <c:v>precision of flags</c:v>
                  </c:pt>
                  <c:pt idx="2">
                    <c:v>false alarms after rename</c:v>
                  </c:pt>
                </c:lvl>
              </c:multiLvlStrCache>
            </c:multiLvlStrRef>
          </c:cat>
          <c:val>
            <c:numRef>
              <c:f>Sheet1!$B$2:$B$4</c:f>
              <c:numCache>
                <c:formatCode>General</c:formatCode>
                <c:ptCount val="3"/>
                <c:pt idx="0">
                  <c:v>0.88</c:v>
                </c:pt>
                <c:pt idx="1">
                  <c:v>0.1</c:v>
                </c:pt>
                <c:pt idx="2">
                  <c:v>0.12</c:v>
                </c:pt>
              </c:numCache>
            </c:numRef>
          </c:val>
        </c:ser>
        <c:ser>
          <c:idx val="1"/>
          <c:order val="1"/>
          <c:tx>
            <c:strRef>
              <c:f>Sheet1!$C$1</c:f>
              <c:strCache>
                <c:ptCount val="1"/>
                <c:pt idx="0">
                  <c:v>checker v2 (Week 6)</c:v>
                </c:pt>
              </c:strCache>
            </c:strRef>
          </c:tx>
          <c:spPr>
            <a:solidFill>
              <a:srgbClr val="0E7C7B"/>
            </a:solidFill>
            <a:effectLst/>
          </c:spPr>
          <c:invertIfNegative val="0"/>
          <c:dLbls>
            <c:numFmt formatCode="0.0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cat>
            <c:multiLvlStrRef>
              <c:f>Sheet1!$A$2:$A$4</c:f>
              <c:multiLvlStrCache>
                <c:ptCount val="3"/>
                <c:lvl>
                  <c:pt idx="0">
                    <c:v>removal recall</c:v>
                  </c:pt>
                  <c:pt idx="1">
                    <c:v>precision of flags</c:v>
                  </c:pt>
                  <c:pt idx="2">
                    <c:v>false alarms after rename</c:v>
                  </c:pt>
                </c:lvl>
              </c:multiLvlStrCache>
            </c:multiLvlStrRef>
          </c:cat>
          <c:val>
            <c:numRef>
              <c:f>Sheet1!$C$2:$C$4</c:f>
              <c:numCache>
                <c:formatCode>General</c:formatCode>
                <c:ptCount val="3"/>
                <c:pt idx="0">
                  <c:v>0.711</c:v>
                </c:pt>
                <c:pt idx="1">
                  <c:v>0.5</c:v>
                </c:pt>
                <c:pt idx="2">
                  <c:v>0</c:v>
                </c:pt>
              </c:numCache>
            </c:numRef>
          </c:val>
        </c:ser>
        <c:dLbls>
          <c:numFmt formatCode="0.00" sourceLinked="0"/>
          <c:txPr>
            <a:bodyPr/>
            <a:lstStyle/>
            <a:p>
              <a:pPr>
                <a:defRPr b="0" i="0" strike="noStrike" sz="1100" u="none">
                  <a:solidFill>
                    <a:srgbClr val="1B2B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A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one-line purpose: a tool for curriculum committees that reads NMIMS syllabus booklets and answers which courses overlap, which prerequisites are missing, and what industry asks for that we do not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uses it: the Board of Studies and programme chairs, who revise syllabi every year by reading booklets by hand. The engine answers three questions with evidence, and never decides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text-layer PDFs are parsed: 531 of 2,413 non-exam PDFs. The rest are scanned and need OCR, which is future work. Exam papers are skipped. The parsed data never goes to the public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booklets are parsed locally into course records and families; embeddings and TF-IDF feed the analysis modules; the FastAPI service returns JSON with evidence and confidence to the committee UI and to the other groups. Group 10 is a planned consumer, not integrated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split is held out by course family, so versions of one course never sit in two splits. Reference labels come from LLM passes with different wordings; disagreements went to a third pass. Say clearly: no human annotators were used, so results are indicative. A human spot-check sheet is ready but not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were fixed in Proposal v2 before any result existed and are measured on the held-out test split. 12 of 14 are met. The two misses are both about prerequisite flags: checker v2 traded recall for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fuses TF-IDF with MiniLM chunk MaxSim. Spearman against the reference labels and ROC-AUC for any overlap are on the test split. Redundancy flags near-duplicate units inside a programme. The demo example: the same NLP syllabus is taught in several programmes.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Week 5 error analysis showed most missing-prerequisite flags were wrong: umbrella names, fragments, non-subjects. Checker v2 removed false alarms and lifted precision, but removal recall fell below the target. Precision samples are small, so the intervals are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step in the 31 October demo chain. Input: five job descriptions on fine-tuning LLMs (synthetic samples) and the current NLP syllabi of several programmes. Output: overlaps, demanded skills and a draft syllabus where every unit names its source. Then the draft goes to Group 11 as a notice and to Group 4 as passages.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 over the API. Demo tab: paste JDs, pick syllabi, see overlaps and skills, download the draft as Word, Markdown or JSON, send the notice to Group 11, export passages for Group 4. Other tabs compare two courses, two years, prerequisites, redundancy and emerging topics. The sidebar always says outputs are drafts.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risks and what the system does about each. Fairness: quality is not equal across programmes; programmes with too little parsed data get no prerequisite checks at all, instead of unreliable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limits: coverage of scanned booklets, LLM labels, prerequisite precision, synthetic job descriptions. Each one has a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where to find the code and how it was tested. Invite questions; the live demo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B3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06040"/>
            <a:ext cx="8046720" cy="1737360"/>
          </a:xfrm>
          <a:prstGeom prst="rect">
            <a:avLst/>
          </a:prstGeom>
          <a:noFill/>
          <a:ln/>
        </p:spPr>
        <p:txBody>
          <a:bodyPr wrap="square" rtlCol="0"/>
          <a:lstStyle>
            <a:lvl1pPr indent="0" marL="0">
              <a:buNone/>
              <a:defRPr lang="en-US" sz="1800" dirty="0">
                <a:solidFill>
                  <a:srgbClr val="CFE3E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3200" b="1" dirty="0">
                <a:solidFill>
                  <a:srgbClr val="1B2B34"/>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Group 9 · Curriculum Intelligence Engine v1.0</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Curriculum Intelligence Engine</a:t>
            </a:r>
            <a:endParaRPr lang="en-US" sz="4000" dirty="0"/>
          </a:p>
        </p:txBody>
      </p:sp>
      <p:sp>
        <p:nvSpPr>
          <p:cNvPr id="3" name="Text 0"/>
          <p:cNvSpPr/>
          <p:nvPr>
            <p:ph idx="101" type="body" hasCustomPrompt="1"/>
          </p:nvPr>
        </p:nvSpPr>
        <p:spPr>
          <a:xfrm>
            <a:off x="548640" y="2606040"/>
            <a:ext cx="8046720" cy="1737360"/>
          </a:xfrm>
          <a:prstGeom prst="rect">
            <a:avLst/>
          </a:prstGeom>
          <a:noFill/>
          <a:ln/>
        </p:spPr>
        <p:txBody>
          <a:bodyPr wrap="square" lIns="0" tIns="0" rIns="0" bIns="0" rtlCol="0" anchor="t"/>
          <a:lstStyle/>
          <a:p>
            <a:pPr indent="0" marL="0">
              <a:buNone/>
            </a:pPr>
            <a:r>
              <a:rPr lang="en-US" sz="1800" dirty="0">
                <a:solidFill>
                  <a:srgbClr val="CFE3E2"/>
                </a:solidFill>
                <a:latin typeface="Calibri" pitchFamily="34" charset="0"/>
                <a:ea typeface="Calibri" pitchFamily="34" charset="-122"/>
                <a:cs typeface="Calibri" pitchFamily="34" charset="-120"/>
              </a:rPr>
              <a:t>Overlap, redundancy, missing prerequisites and industry gaps in NMIMS B.Tech syllabi</a:t>
            </a:r>
            <a:endParaRPr lang="en-US" sz="1800" dirty="0"/>
          </a:p>
          <a:p>
            <a:pPr indent="0" marL="0">
              <a:buNone/>
            </a:pPr>
            <a:r>
              <a:rPr lang="en-US" sz="1000" dirty="0">
                <a:solidFill>
                  <a:srgbClr val="CFE3E2"/>
                </a:solidFill>
                <a:latin typeface="Calibri" pitchFamily="34" charset="0"/>
                <a:ea typeface="Calibri" pitchFamily="34" charset="-122"/>
                <a:cs typeface="Calibri" pitchFamily="34" charset="-120"/>
              </a:rPr>
              <a:t> </a:t>
            </a:r>
            <a:endParaRPr lang="en-US" sz="1800" dirty="0"/>
          </a:p>
          <a:p>
            <a:pPr indent="0" marL="0">
              <a:buNone/>
            </a:pPr>
            <a:r>
              <a:rPr lang="en-US" sz="1400" dirty="0">
                <a:solidFill>
                  <a:srgbClr val="9FC3C1"/>
                </a:solidFill>
                <a:latin typeface="Calibri" pitchFamily="34" charset="0"/>
                <a:ea typeface="Calibri" pitchFamily="34" charset="-122"/>
                <a:cs typeface="Calibri" pitchFamily="34" charset="-120"/>
              </a:rPr>
              <a:t>Group 9 · J048, J049, J050, J052, J053 · AI University NLP Course Project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The committee's three questions</a:t>
            </a:r>
            <a:endParaRPr lang="en-US" sz="3200" dirty="0"/>
          </a:p>
        </p:txBody>
      </p:sp>
      <p:sp>
        <p:nvSpPr>
          <p:cNvPr id="4" name="question 1"/>
          <p:cNvSpPr/>
          <p:nvPr/>
        </p:nvSpPr>
        <p:spPr>
          <a:xfrm>
            <a:off x="457200" y="1234440"/>
            <a:ext cx="2606040" cy="2651760"/>
          </a:xfrm>
          <a:prstGeom prst="roundRect">
            <a:avLst>
              <a:gd name="adj" fmla="val 2807"/>
            </a:avLst>
          </a:prstGeom>
          <a:solidFill>
            <a:srgbClr val="E3F1F0"/>
          </a:solidFill>
          <a:ln w="12700">
            <a:solidFill>
              <a:srgbClr val="E3F1F0"/>
            </a:solidFill>
            <a:prstDash val="solid"/>
          </a:ln>
        </p:spPr>
      </p:sp>
      <p:sp>
        <p:nvSpPr>
          <p:cNvPr id="5" name="badge 1"/>
          <p:cNvSpPr/>
          <p:nvPr/>
        </p:nvSpPr>
        <p:spPr>
          <a:xfrm>
            <a:off x="685800" y="1463040"/>
            <a:ext cx="384048" cy="384048"/>
          </a:xfrm>
          <a:prstGeom prst="ellipse">
            <a:avLst/>
          </a:prstGeom>
          <a:solidFill>
            <a:srgbClr val="0E7C7B"/>
          </a:solidFill>
          <a:ln w="12700">
            <a:solidFill>
              <a:srgbClr val="0E7C7B"/>
            </a:solidFill>
            <a:prstDash val="solid"/>
          </a:ln>
        </p:spPr>
      </p:sp>
      <p:sp>
        <p:nvSpPr>
          <p:cNvPr id="6" name="Text 3"/>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685800" y="2011680"/>
            <a:ext cx="2148840" cy="868680"/>
          </a:xfrm>
          <a:prstGeom prst="rect">
            <a:avLst/>
          </a:prstGeom>
          <a:noFill/>
          <a:ln/>
        </p:spPr>
        <p:txBody>
          <a:bodyPr wrap="square" lIns="0" tIns="0" rIns="0" bIns="0" rtlCol="0" anchor="t"/>
          <a:lstStyle/>
          <a:p>
            <a:pPr indent="0" marL="0">
              <a:buNone/>
            </a:pPr>
            <a:r>
              <a:rPr lang="en-US" sz="1700" b="1" dirty="0">
                <a:solidFill>
                  <a:srgbClr val="1B2B34"/>
                </a:solidFill>
                <a:latin typeface="Cambria" pitchFamily="34" charset="0"/>
                <a:ea typeface="Cambria" pitchFamily="34" charset="-122"/>
                <a:cs typeface="Cambria" pitchFamily="34" charset="-120"/>
              </a:rPr>
              <a:t>Which courses teach the same thing?</a:t>
            </a:r>
            <a:endParaRPr lang="en-US" sz="1700" dirty="0"/>
          </a:p>
        </p:txBody>
      </p:sp>
      <p:sp>
        <p:nvSpPr>
          <p:cNvPr id="8" name="Text 5"/>
          <p:cNvSpPr txBox="1"/>
          <p:nvPr/>
        </p:nvSpPr>
        <p:spPr>
          <a:xfrm>
            <a:off x="685800" y="2926080"/>
            <a:ext cx="2148840" cy="8229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Overlap and redundancy between courses, programmes and years</a:t>
            </a:r>
            <a:endParaRPr lang="en-US" sz="1300" dirty="0"/>
          </a:p>
        </p:txBody>
      </p:sp>
      <p:sp>
        <p:nvSpPr>
          <p:cNvPr id="9" name="question 2"/>
          <p:cNvSpPr/>
          <p:nvPr/>
        </p:nvSpPr>
        <p:spPr>
          <a:xfrm>
            <a:off x="3246120" y="1234440"/>
            <a:ext cx="2606040" cy="2651760"/>
          </a:xfrm>
          <a:prstGeom prst="roundRect">
            <a:avLst>
              <a:gd name="adj" fmla="val 2807"/>
            </a:avLst>
          </a:prstGeom>
          <a:solidFill>
            <a:srgbClr val="E3F1F0"/>
          </a:solidFill>
          <a:ln w="12700">
            <a:solidFill>
              <a:srgbClr val="E3F1F0"/>
            </a:solidFill>
            <a:prstDash val="solid"/>
          </a:ln>
        </p:spPr>
      </p:sp>
      <p:sp>
        <p:nvSpPr>
          <p:cNvPr id="10" name="badge 2"/>
          <p:cNvSpPr/>
          <p:nvPr/>
        </p:nvSpPr>
        <p:spPr>
          <a:xfrm>
            <a:off x="3474720" y="1463040"/>
            <a:ext cx="384048" cy="384048"/>
          </a:xfrm>
          <a:prstGeom prst="ellipse">
            <a:avLst/>
          </a:prstGeom>
          <a:solidFill>
            <a:srgbClr val="0E7C7B"/>
          </a:solidFill>
          <a:ln w="12700">
            <a:solidFill>
              <a:srgbClr val="0E7C7B"/>
            </a:solidFill>
            <a:prstDash val="solid"/>
          </a:ln>
        </p:spPr>
      </p:sp>
      <p:sp>
        <p:nvSpPr>
          <p:cNvPr id="11" name="Text 8"/>
          <p:cNvSpPr txBox="1"/>
          <p:nvPr/>
        </p:nvSpPr>
        <p:spPr>
          <a:xfrm>
            <a:off x="347472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3474720" y="2011680"/>
            <a:ext cx="2148840" cy="868680"/>
          </a:xfrm>
          <a:prstGeom prst="rect">
            <a:avLst/>
          </a:prstGeom>
          <a:noFill/>
          <a:ln/>
        </p:spPr>
        <p:txBody>
          <a:bodyPr wrap="square" lIns="0" tIns="0" rIns="0" bIns="0" rtlCol="0" anchor="t"/>
          <a:lstStyle/>
          <a:p>
            <a:pPr indent="0" marL="0">
              <a:buNone/>
            </a:pPr>
            <a:r>
              <a:rPr lang="en-US" sz="1700" b="1" dirty="0">
                <a:solidFill>
                  <a:srgbClr val="1B2B34"/>
                </a:solidFill>
                <a:latin typeface="Cambria" pitchFamily="34" charset="0"/>
                <a:ea typeface="Cambria" pitchFamily="34" charset="-122"/>
                <a:cs typeface="Cambria" pitchFamily="34" charset="-120"/>
              </a:rPr>
              <a:t>Which prerequisites are missing?</a:t>
            </a:r>
            <a:endParaRPr lang="en-US" sz="1700" dirty="0"/>
          </a:p>
        </p:txBody>
      </p:sp>
      <p:sp>
        <p:nvSpPr>
          <p:cNvPr id="13" name="Text 10"/>
          <p:cNvSpPr txBox="1"/>
          <p:nvPr/>
        </p:nvSpPr>
        <p:spPr>
          <a:xfrm>
            <a:off x="3474720" y="2926080"/>
            <a:ext cx="2148840" cy="8229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A declared prerequisite that no earlier semester teaches</a:t>
            </a:r>
            <a:endParaRPr lang="en-US" sz="1300" dirty="0"/>
          </a:p>
        </p:txBody>
      </p:sp>
      <p:sp>
        <p:nvSpPr>
          <p:cNvPr id="14" name="question 3"/>
          <p:cNvSpPr/>
          <p:nvPr/>
        </p:nvSpPr>
        <p:spPr>
          <a:xfrm>
            <a:off x="6035040" y="1234440"/>
            <a:ext cx="2606040" cy="2651760"/>
          </a:xfrm>
          <a:prstGeom prst="roundRect">
            <a:avLst>
              <a:gd name="adj" fmla="val 2807"/>
            </a:avLst>
          </a:prstGeom>
          <a:solidFill>
            <a:srgbClr val="E3F1F0"/>
          </a:solidFill>
          <a:ln w="12700">
            <a:solidFill>
              <a:srgbClr val="E3F1F0"/>
            </a:solidFill>
            <a:prstDash val="solid"/>
          </a:ln>
        </p:spPr>
      </p:sp>
      <p:sp>
        <p:nvSpPr>
          <p:cNvPr id="15" name="badge 3"/>
          <p:cNvSpPr/>
          <p:nvPr/>
        </p:nvSpPr>
        <p:spPr>
          <a:xfrm>
            <a:off x="6263640" y="1463040"/>
            <a:ext cx="384048" cy="384048"/>
          </a:xfrm>
          <a:prstGeom prst="ellipse">
            <a:avLst/>
          </a:prstGeom>
          <a:solidFill>
            <a:srgbClr val="0E7C7B"/>
          </a:solidFill>
          <a:ln w="12700">
            <a:solidFill>
              <a:srgbClr val="0E7C7B"/>
            </a:solidFill>
            <a:prstDash val="solid"/>
          </a:ln>
        </p:spPr>
      </p:sp>
      <p:sp>
        <p:nvSpPr>
          <p:cNvPr id="16" name="Text 13"/>
          <p:cNvSpPr txBox="1"/>
          <p:nvPr/>
        </p:nvSpPr>
        <p:spPr>
          <a:xfrm>
            <a:off x="626364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6263640" y="2011680"/>
            <a:ext cx="2148840" cy="868680"/>
          </a:xfrm>
          <a:prstGeom prst="rect">
            <a:avLst/>
          </a:prstGeom>
          <a:noFill/>
          <a:ln/>
        </p:spPr>
        <p:txBody>
          <a:bodyPr wrap="square" lIns="0" tIns="0" rIns="0" bIns="0" rtlCol="0" anchor="t"/>
          <a:lstStyle/>
          <a:p>
            <a:pPr indent="0" marL="0">
              <a:buNone/>
            </a:pPr>
            <a:r>
              <a:rPr lang="en-US" sz="1700" b="1" dirty="0">
                <a:solidFill>
                  <a:srgbClr val="1B2B34"/>
                </a:solidFill>
                <a:latin typeface="Cambria" pitchFamily="34" charset="0"/>
                <a:ea typeface="Cambria" pitchFamily="34" charset="-122"/>
                <a:cs typeface="Cambria" pitchFamily="34" charset="-120"/>
              </a:rPr>
              <a:t>What does industry ask that we do not teach?</a:t>
            </a:r>
            <a:endParaRPr lang="en-US" sz="1700" dirty="0"/>
          </a:p>
        </p:txBody>
      </p:sp>
      <p:sp>
        <p:nvSpPr>
          <p:cNvPr id="18" name="Text 15"/>
          <p:cNvSpPr txBox="1"/>
          <p:nvPr/>
        </p:nvSpPr>
        <p:spPr>
          <a:xfrm>
            <a:off x="6263640" y="2926080"/>
            <a:ext cx="2148840" cy="8229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Skills in job descriptions compared with what the syllabi cover</a:t>
            </a:r>
            <a:endParaRPr lang="en-US" sz="1300" dirty="0"/>
          </a:p>
        </p:txBody>
      </p:sp>
      <p:sp>
        <p:nvSpPr>
          <p:cNvPr id="19" name="Text 1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0E7C7B"/>
                </a:solidFill>
                <a:latin typeface="Calibri" pitchFamily="34" charset="0"/>
                <a:ea typeface="Calibri" pitchFamily="34" charset="-122"/>
                <a:cs typeface="Calibri" pitchFamily="34" charset="-120"/>
              </a:rPr>
              <a:t>Output: structured JSON with evidence and a confidence score, for a human decision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Data: NMIMS semester syllabus booklets</a:t>
            </a:r>
            <a:endParaRPr lang="en-US" sz="3200" dirty="0"/>
          </a:p>
        </p:txBody>
      </p:sp>
      <p:sp>
        <p:nvSpPr>
          <p:cNvPr id="4" name="Text 1"/>
          <p:cNvSpPr txBox="1"/>
          <p:nvPr/>
        </p:nvSpPr>
        <p:spPr>
          <a:xfrm>
            <a:off x="457200" y="1097280"/>
            <a:ext cx="182880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2,413</a:t>
            </a:r>
            <a:endParaRPr lang="en-US" sz="4000" dirty="0"/>
          </a:p>
        </p:txBody>
      </p:sp>
      <p:sp>
        <p:nvSpPr>
          <p:cNvPr id="5" name="Text 2"/>
          <p:cNvSpPr txBox="1"/>
          <p:nvPr/>
        </p:nvSpPr>
        <p:spPr>
          <a:xfrm>
            <a:off x="457200" y="1828800"/>
            <a:ext cx="18288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non-exam PDFs in the archive</a:t>
            </a:r>
            <a:endParaRPr lang="en-US" sz="1200" dirty="0"/>
          </a:p>
        </p:txBody>
      </p:sp>
      <p:sp>
        <p:nvSpPr>
          <p:cNvPr id="6" name="Text 3"/>
          <p:cNvSpPr txBox="1"/>
          <p:nvPr/>
        </p:nvSpPr>
        <p:spPr>
          <a:xfrm>
            <a:off x="2468880" y="1097280"/>
            <a:ext cx="1828800" cy="685800"/>
          </a:xfrm>
          <a:prstGeom prst="rect">
            <a:avLst/>
          </a:prstGeom>
          <a:noFill/>
          <a:ln/>
        </p:spPr>
        <p:txBody>
          <a:bodyPr wrap="square" lIns="0" tIns="0" rIns="0" bIns="0" rtlCol="0" anchor="b"/>
          <a:lstStyle/>
          <a:p>
            <a:pPr indent="0" marL="0">
              <a:buNone/>
            </a:pPr>
            <a:r>
              <a:rPr lang="en-US" sz="4000" b="1" dirty="0">
                <a:solidFill>
                  <a:srgbClr val="D98E04"/>
                </a:solidFill>
                <a:latin typeface="Cambria" pitchFamily="34" charset="0"/>
                <a:ea typeface="Cambria" pitchFamily="34" charset="-122"/>
                <a:cs typeface="Cambria" pitchFamily="34" charset="-120"/>
              </a:rPr>
              <a:t>531</a:t>
            </a:r>
            <a:endParaRPr lang="en-US" sz="4000" dirty="0"/>
          </a:p>
        </p:txBody>
      </p:sp>
      <p:sp>
        <p:nvSpPr>
          <p:cNvPr id="7" name="Text 4"/>
          <p:cNvSpPr txBox="1"/>
          <p:nvPr/>
        </p:nvSpPr>
        <p:spPr>
          <a:xfrm>
            <a:off x="2468880" y="1828800"/>
            <a:ext cx="18288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with a text layer, parsed (no OCR)</a:t>
            </a:r>
            <a:endParaRPr lang="en-US" sz="1200" dirty="0"/>
          </a:p>
        </p:txBody>
      </p:sp>
      <p:sp>
        <p:nvSpPr>
          <p:cNvPr id="8" name="Text 5"/>
          <p:cNvSpPr txBox="1"/>
          <p:nvPr/>
        </p:nvSpPr>
        <p:spPr>
          <a:xfrm>
            <a:off x="457200" y="2560320"/>
            <a:ext cx="182880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2,366</a:t>
            </a:r>
            <a:endParaRPr lang="en-US" sz="4000" dirty="0"/>
          </a:p>
        </p:txBody>
      </p:sp>
      <p:sp>
        <p:nvSpPr>
          <p:cNvPr id="9" name="Text 6"/>
          <p:cNvSpPr txBox="1"/>
          <p:nvPr/>
        </p:nvSpPr>
        <p:spPr>
          <a:xfrm>
            <a:off x="457200" y="3291840"/>
            <a:ext cx="18288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course versions after deduplication</a:t>
            </a:r>
            <a:endParaRPr lang="en-US" sz="1200" dirty="0"/>
          </a:p>
        </p:txBody>
      </p:sp>
      <p:sp>
        <p:nvSpPr>
          <p:cNvPr id="10" name="Text 7"/>
          <p:cNvSpPr txBox="1"/>
          <p:nvPr/>
        </p:nvSpPr>
        <p:spPr>
          <a:xfrm>
            <a:off x="2468880" y="2560320"/>
            <a:ext cx="182880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645</a:t>
            </a:r>
            <a:endParaRPr lang="en-US" sz="4000" dirty="0"/>
          </a:p>
        </p:txBody>
      </p:sp>
      <p:sp>
        <p:nvSpPr>
          <p:cNvPr id="11" name="Text 8"/>
          <p:cNvSpPr txBox="1"/>
          <p:nvPr/>
        </p:nvSpPr>
        <p:spPr>
          <a:xfrm>
            <a:off x="2468880" y="3291840"/>
            <a:ext cx="18288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course families, 13 programmes</a:t>
            </a:r>
            <a:endParaRPr lang="en-US" sz="1200" dirty="0"/>
          </a:p>
        </p:txBody>
      </p:sp>
      <p:graphicFrame>
        <p:nvGraphicFramePr>
          <p:cNvPr id="12" name="Chart 0" descr=""/>
          <p:cNvGraphicFramePr/>
          <p:nvPr/>
        </p:nvGraphicFramePr>
        <p:xfrm>
          <a:off x="4572000" y="1005840"/>
          <a:ext cx="4206240" cy="361188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457200" y="4160520"/>
            <a:ext cx="3931920" cy="45720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Academic years 2020-21 to 2026-27 · split by course family 60/20/20 (hash 4763325fd5)</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Architecture</a:t>
            </a:r>
            <a:endParaRPr lang="en-US" sz="3200" dirty="0"/>
          </a:p>
        </p:txBody>
      </p:sp>
      <p:pic>
        <p:nvPicPr>
          <p:cNvPr id="4" name="Image 0" descr="D:\study\sem7\SNLP\docs\architecture.png">    </p:cNvPr>
          <p:cNvPicPr>
            <a:picLocks noChangeAspect="1"/>
          </p:cNvPicPr>
          <p:nvPr/>
        </p:nvPicPr>
        <p:blipFill>
          <a:blip r:embed="rId1"/>
          <a:stretch>
            <a:fillRect/>
          </a:stretch>
        </p:blipFill>
        <p:spPr>
          <a:xfrm>
            <a:off x="457200" y="1051560"/>
            <a:ext cx="8229600" cy="2588342"/>
          </a:xfrm>
          <a:prstGeom prst="rect">
            <a:avLst/>
          </a:prstGeom>
        </p:spPr>
      </p:pic>
      <p:sp>
        <p:nvSpPr>
          <p:cNvPr id="5" name="architecture note 1"/>
          <p:cNvSpPr/>
          <p:nvPr/>
        </p:nvSpPr>
        <p:spPr>
          <a:xfrm>
            <a:off x="457200" y="3840480"/>
            <a:ext cx="2606040" cy="777240"/>
          </a:xfrm>
          <a:prstGeom prst="roundRect">
            <a:avLst>
              <a:gd name="adj" fmla="val 9412"/>
            </a:avLst>
          </a:prstGeom>
          <a:solidFill>
            <a:srgbClr val="E3F1F0"/>
          </a:solidFill>
          <a:ln w="12700">
            <a:solidFill>
              <a:srgbClr val="E3F1F0"/>
            </a:solidFill>
            <a:prstDash val="solid"/>
          </a:ln>
        </p:spPr>
      </p:sp>
      <p:sp>
        <p:nvSpPr>
          <p:cNvPr id="6" name="Text 2"/>
          <p:cNvSpPr txBox="1"/>
          <p:nvPr/>
        </p:nvSpPr>
        <p:spPr>
          <a:xfrm>
            <a:off x="640080" y="3913632"/>
            <a:ext cx="2286000" cy="32004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Runs offline</a:t>
            </a:r>
            <a:endParaRPr lang="en-US" sz="1400" dirty="0"/>
          </a:p>
        </p:txBody>
      </p:sp>
      <p:sp>
        <p:nvSpPr>
          <p:cNvPr id="7" name="Text 3"/>
          <p:cNvSpPr txBox="1"/>
          <p:nvPr/>
        </p:nvSpPr>
        <p:spPr>
          <a:xfrm>
            <a:off x="640080" y="4224528"/>
            <a:ext cx="2286000" cy="3200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no cloud services; data never on GitHub</a:t>
            </a:r>
            <a:endParaRPr lang="en-US" sz="1200" dirty="0"/>
          </a:p>
        </p:txBody>
      </p:sp>
      <p:sp>
        <p:nvSpPr>
          <p:cNvPr id="8" name="architecture note 2"/>
          <p:cNvSpPr/>
          <p:nvPr/>
        </p:nvSpPr>
        <p:spPr>
          <a:xfrm>
            <a:off x="3246120" y="3840480"/>
            <a:ext cx="2606040" cy="777240"/>
          </a:xfrm>
          <a:prstGeom prst="roundRect">
            <a:avLst>
              <a:gd name="adj" fmla="val 9412"/>
            </a:avLst>
          </a:prstGeom>
          <a:solidFill>
            <a:srgbClr val="E3F1F0"/>
          </a:solidFill>
          <a:ln w="12700">
            <a:solidFill>
              <a:srgbClr val="E3F1F0"/>
            </a:solidFill>
            <a:prstDash val="solid"/>
          </a:ln>
        </p:spPr>
      </p:sp>
      <p:sp>
        <p:nvSpPr>
          <p:cNvPr id="9" name="Text 5"/>
          <p:cNvSpPr txBox="1"/>
          <p:nvPr/>
        </p:nvSpPr>
        <p:spPr>
          <a:xfrm>
            <a:off x="3429000" y="3913632"/>
            <a:ext cx="2286000" cy="32004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Evidence with every answer</a:t>
            </a:r>
            <a:endParaRPr lang="en-US" sz="1400" dirty="0"/>
          </a:p>
        </p:txBody>
      </p:sp>
      <p:sp>
        <p:nvSpPr>
          <p:cNvPr id="10" name="Text 6"/>
          <p:cNvSpPr txBox="1"/>
          <p:nvPr/>
        </p:nvSpPr>
        <p:spPr>
          <a:xfrm>
            <a:off x="3429000" y="4224528"/>
            <a:ext cx="2286000" cy="3200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matched units, sources, confidence</a:t>
            </a:r>
            <a:endParaRPr lang="en-US" sz="1200" dirty="0"/>
          </a:p>
        </p:txBody>
      </p:sp>
      <p:sp>
        <p:nvSpPr>
          <p:cNvPr id="11" name="architecture note 3"/>
          <p:cNvSpPr/>
          <p:nvPr/>
        </p:nvSpPr>
        <p:spPr>
          <a:xfrm>
            <a:off x="6035040" y="3840480"/>
            <a:ext cx="2606040" cy="777240"/>
          </a:xfrm>
          <a:prstGeom prst="roundRect">
            <a:avLst>
              <a:gd name="adj" fmla="val 9412"/>
            </a:avLst>
          </a:prstGeom>
          <a:solidFill>
            <a:srgbClr val="E3F1F0"/>
          </a:solidFill>
          <a:ln w="12700">
            <a:solidFill>
              <a:srgbClr val="E3F1F0"/>
            </a:solidFill>
            <a:prstDash val="solid"/>
          </a:ln>
        </p:spPr>
      </p:sp>
      <p:sp>
        <p:nvSpPr>
          <p:cNvPr id="12" name="Text 8"/>
          <p:cNvSpPr txBox="1"/>
          <p:nvPr/>
        </p:nvSpPr>
        <p:spPr>
          <a:xfrm>
            <a:off x="6217920" y="3913632"/>
            <a:ext cx="2286000" cy="32004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9 API endpoints</a:t>
            </a:r>
            <a:endParaRPr lang="en-US" sz="1400" dirty="0"/>
          </a:p>
        </p:txBody>
      </p:sp>
      <p:sp>
        <p:nvSpPr>
          <p:cNvPr id="13" name="Text 9"/>
          <p:cNvSpPr txBox="1"/>
          <p:nvPr/>
        </p:nvSpPr>
        <p:spPr>
          <a:xfrm>
            <a:off x="6217920" y="4224528"/>
            <a:ext cx="2286000" cy="3200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one JSON for the UI and peers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How we measured quality</a:t>
            </a:r>
            <a:endParaRPr lang="en-US" sz="3200" dirty="0"/>
          </a:p>
        </p:txBody>
      </p:sp>
      <p:sp>
        <p:nvSpPr>
          <p:cNvPr id="4" name="Text 1"/>
          <p:cNvSpPr txBox="1"/>
          <p:nvPr/>
        </p:nvSpPr>
        <p:spPr>
          <a:xfrm>
            <a:off x="457200" y="1051560"/>
            <a:ext cx="237744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502</a:t>
            </a:r>
            <a:endParaRPr lang="en-US" sz="4000" dirty="0"/>
          </a:p>
        </p:txBody>
      </p:sp>
      <p:sp>
        <p:nvSpPr>
          <p:cNvPr id="5" name="Text 2"/>
          <p:cNvSpPr txBox="1"/>
          <p:nvPr/>
        </p:nvSpPr>
        <p:spPr>
          <a:xfrm>
            <a:off x="457200" y="1783080"/>
            <a:ext cx="23774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LLM-annotated reference labels</a:t>
            </a:r>
            <a:endParaRPr lang="en-US" sz="1200" dirty="0"/>
          </a:p>
        </p:txBody>
      </p:sp>
      <p:sp>
        <p:nvSpPr>
          <p:cNvPr id="6" name="Text 3"/>
          <p:cNvSpPr txBox="1"/>
          <p:nvPr/>
        </p:nvSpPr>
        <p:spPr>
          <a:xfrm>
            <a:off x="457200" y="2377440"/>
            <a:ext cx="2377440" cy="685800"/>
          </a:xfrm>
          <a:prstGeom prst="rect">
            <a:avLst/>
          </a:prstGeom>
          <a:noFill/>
          <a:ln/>
        </p:spPr>
        <p:txBody>
          <a:bodyPr wrap="square" lIns="0" tIns="0" rIns="0" bIns="0" rtlCol="0" anchor="b"/>
          <a:lstStyle/>
          <a:p>
            <a:pPr indent="0" marL="0">
              <a:buNone/>
            </a:pPr>
            <a:r>
              <a:rPr lang="en-US" sz="4000" b="1" dirty="0">
                <a:solidFill>
                  <a:srgbClr val="D98E04"/>
                </a:solidFill>
                <a:latin typeface="Cambria" pitchFamily="34" charset="0"/>
                <a:ea typeface="Cambria" pitchFamily="34" charset="-122"/>
                <a:cs typeface="Cambria" pitchFamily="34" charset="-120"/>
              </a:rPr>
              <a:t>35</a:t>
            </a:r>
            <a:endParaRPr lang="en-US" sz="4000" dirty="0"/>
          </a:p>
        </p:txBody>
      </p:sp>
      <p:sp>
        <p:nvSpPr>
          <p:cNvPr id="7" name="Text 4"/>
          <p:cNvSpPr txBox="1"/>
          <p:nvPr/>
        </p:nvSpPr>
        <p:spPr>
          <a:xfrm>
            <a:off x="457200" y="3108960"/>
            <a:ext cx="23774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settled by a third pass, 1 left uncertain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108960" y="1097280"/>
          <a:ext cx="5577840" cy="914400"/>
        </p:xfrm>
        <a:graphic>
          <a:graphicData uri="http://schemas.openxmlformats.org/drawingml/2006/table">
            <a:tbl>
              <a:tblPr/>
              <a:tblGrid>
                <a:gridCol w="2286000"/>
                <a:gridCol w="822960"/>
                <a:gridCol w="1280160"/>
                <a:gridCol w="11887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Label set</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Items</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Passes 1 and 2 agree</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Settled by pass 3</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course pairs (overlap 0/1/2)</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detector flags (Week 3)</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187</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182</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prerequisite v2 flags (Week 6)</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JD skill coverage (Week 7)</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1B2B3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bl>
          </a:graphicData>
        </a:graphic>
      </p:graphicFrame>
      <p:sp>
        <p:nvSpPr>
          <p:cNvPr id="9" name="label caveat"/>
          <p:cNvSpPr/>
          <p:nvPr/>
        </p:nvSpPr>
        <p:spPr>
          <a:xfrm>
            <a:off x="3108960" y="3337560"/>
            <a:ext cx="5577840" cy="1097280"/>
          </a:xfrm>
          <a:prstGeom prst="roundRect">
            <a:avLst>
              <a:gd name="adj" fmla="val 6667"/>
            </a:avLst>
          </a:prstGeom>
          <a:solidFill>
            <a:srgbClr val="FBF1DE"/>
          </a:solidFill>
          <a:ln w="12700">
            <a:solidFill>
              <a:srgbClr val="FBF1DE"/>
            </a:solidFill>
            <a:prstDash val="solid"/>
          </a:ln>
        </p:spPr>
      </p:sp>
      <p:sp>
        <p:nvSpPr>
          <p:cNvPr id="10" name="Text 6"/>
          <p:cNvSpPr txBox="1"/>
          <p:nvPr/>
        </p:nvSpPr>
        <p:spPr>
          <a:xfrm>
            <a:off x="3291840" y="3456432"/>
            <a:ext cx="5212080" cy="868680"/>
          </a:xfrm>
          <a:prstGeom prst="rect">
            <a:avLst/>
          </a:prstGeom>
          <a:noFill/>
          <a:ln/>
        </p:spPr>
        <p:txBody>
          <a:bodyPr wrap="square" lIns="0" tIns="0" rIns="0" bIns="0" rtlCol="0" anchor="t"/>
          <a:lstStyle/>
          <a:p>
            <a:pPr indent="0" marL="0">
              <a:buNone/>
            </a:pPr>
            <a:r>
              <a:rPr lang="en-US" sz="1400" b="1" dirty="0">
                <a:solidFill>
                  <a:srgbClr val="1B2B34"/>
                </a:solidFill>
                <a:latin typeface="Calibri" pitchFamily="34" charset="0"/>
                <a:ea typeface="Calibri" pitchFamily="34" charset="-122"/>
                <a:cs typeface="Calibri" pitchFamily="34" charset="-120"/>
              </a:rPr>
              <a:t>No human annotators were used; results are indicative.</a:t>
            </a:r>
            <a:endParaRPr lang="en-US" sz="1400" dirty="0"/>
          </a:p>
          <a:p>
            <a:pPr indent="0" marL="0">
              <a:buNone/>
            </a:pPr>
            <a:r>
              <a:rPr lang="en-US" sz="1200" dirty="0">
                <a:solidFill>
                  <a:srgbClr val="5B6770"/>
                </a:solidFill>
                <a:latin typeface="Calibri" pitchFamily="34" charset="0"/>
                <a:ea typeface="Calibri" pitchFamily="34" charset="-122"/>
                <a:cs typeface="Calibri" pitchFamily="34" charset="-120"/>
              </a:rPr>
              <a:t>Second labeller: Phi-3 for part of the pairs, otherwise a second Claude prompt, so agreement there is not independent.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Results against our success criteria</a:t>
            </a:r>
            <a:endParaRPr lang="en-US" sz="3200" dirty="0"/>
          </a:p>
        </p:txBody>
      </p:sp>
      <p:sp>
        <p:nvSpPr>
          <p:cNvPr id="4" name="Text 1"/>
          <p:cNvSpPr txBox="1"/>
          <p:nvPr/>
        </p:nvSpPr>
        <p:spPr>
          <a:xfrm>
            <a:off x="457200" y="1097280"/>
            <a:ext cx="219456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12 / 14</a:t>
            </a:r>
            <a:endParaRPr lang="en-US" sz="4000" dirty="0"/>
          </a:p>
        </p:txBody>
      </p:sp>
      <p:sp>
        <p:nvSpPr>
          <p:cNvPr id="5" name="Text 2"/>
          <p:cNvSpPr txBox="1"/>
          <p:nvPr/>
        </p:nvSpPr>
        <p:spPr>
          <a:xfrm>
            <a:off x="457200" y="1828800"/>
            <a:ext cx="219456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success targets met on the test split</a:t>
            </a:r>
            <a:endParaRPr lang="en-US" sz="1200" dirty="0"/>
          </a:p>
        </p:txBody>
      </p:sp>
      <p:sp>
        <p:nvSpPr>
          <p:cNvPr id="6" name="Text 3"/>
          <p:cNvSpPr txBox="1"/>
          <p:nvPr/>
        </p:nvSpPr>
        <p:spPr>
          <a:xfrm>
            <a:off x="457200" y="2514600"/>
            <a:ext cx="2194560" cy="685800"/>
          </a:xfrm>
          <a:prstGeom prst="rect">
            <a:avLst/>
          </a:prstGeom>
          <a:noFill/>
          <a:ln/>
        </p:spPr>
        <p:txBody>
          <a:bodyPr wrap="square" lIns="0" tIns="0" rIns="0" bIns="0" rtlCol="0" anchor="b"/>
          <a:lstStyle/>
          <a:p>
            <a:pPr indent="0" marL="0">
              <a:buNone/>
            </a:pPr>
            <a:r>
              <a:rPr lang="en-US" sz="4000" b="1" dirty="0">
                <a:solidFill>
                  <a:srgbClr val="B4473C"/>
                </a:solidFill>
                <a:latin typeface="Cambria" pitchFamily="34" charset="0"/>
                <a:ea typeface="Cambria" pitchFamily="34" charset="-122"/>
                <a:cs typeface="Cambria" pitchFamily="34" charset="-120"/>
              </a:rPr>
              <a:t>2</a:t>
            </a:r>
            <a:endParaRPr lang="en-US" sz="4000" dirty="0"/>
          </a:p>
        </p:txBody>
      </p:sp>
      <p:sp>
        <p:nvSpPr>
          <p:cNvPr id="7" name="Text 4"/>
          <p:cNvSpPr txBox="1"/>
          <p:nvPr/>
        </p:nvSpPr>
        <p:spPr>
          <a:xfrm>
            <a:off x="457200" y="3246120"/>
            <a:ext cx="219456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missed: both on prerequisite flags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926080" y="1051560"/>
          <a:ext cx="5760720" cy="914400"/>
        </p:xfrm>
        <a:graphic>
          <a:graphicData uri="http://schemas.openxmlformats.org/drawingml/2006/table">
            <a:tbl>
              <a:tblPr/>
              <a:tblGrid>
                <a:gridCol w="1417320"/>
                <a:gridCol w="2377440"/>
                <a:gridCol w="594360"/>
                <a:gridCol w="868680"/>
                <a:gridCol w="5029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Final</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Overlap</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Spearman</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0.717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0.6</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Redundancy</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precision of top flags (reference labels)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0.800</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Prerequisites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removal recall</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0.711</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0.8</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b="1" dirty="0">
                          <a:solidFill>
                            <a:srgbClr val="B4473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Prerequisites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precision of flags (reference labels)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0.6</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b="1" dirty="0">
                          <a:solidFill>
                            <a:srgbClr val="B4473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Curriculum diff</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precision (real year pairs)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0.998</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0.85</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Bloom</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accuracy vs faculty tags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0.776</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Emerging topics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precision of flagged gaps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0.915</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Topic labels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share accepted</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0.700</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 0.7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329184">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Curriculum modernisation</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taught / gap accuracy on JD skill themes (reference labels)</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0.857</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no target set</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100" dirty="0">
                          <a:solidFill>
                            <a:srgbClr val="1B2B3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Overlap and redundancy work</a:t>
            </a:r>
            <a:endParaRPr lang="en-US" sz="3200" dirty="0"/>
          </a:p>
        </p:txBody>
      </p:sp>
      <p:sp>
        <p:nvSpPr>
          <p:cNvPr id="4" name="Text 1"/>
          <p:cNvSpPr txBox="1"/>
          <p:nvPr/>
        </p:nvSpPr>
        <p:spPr>
          <a:xfrm>
            <a:off x="457200" y="1097280"/>
            <a:ext cx="256032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0.717</a:t>
            </a:r>
            <a:endParaRPr lang="en-US" sz="4000" dirty="0"/>
          </a:p>
        </p:txBody>
      </p:sp>
      <p:sp>
        <p:nvSpPr>
          <p:cNvPr id="5" name="Text 2"/>
          <p:cNvSpPr txBox="1"/>
          <p:nvPr/>
        </p:nvSpPr>
        <p:spPr>
          <a:xfrm>
            <a:off x="457200" y="1828800"/>
            <a:ext cx="256032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Spearman with reference labels (target 0.6)</a:t>
            </a:r>
            <a:endParaRPr lang="en-US" sz="1200" dirty="0"/>
          </a:p>
        </p:txBody>
      </p:sp>
      <p:sp>
        <p:nvSpPr>
          <p:cNvPr id="6" name="Text 3"/>
          <p:cNvSpPr txBox="1"/>
          <p:nvPr/>
        </p:nvSpPr>
        <p:spPr>
          <a:xfrm>
            <a:off x="3246120" y="1097280"/>
            <a:ext cx="256032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0.965</a:t>
            </a:r>
            <a:endParaRPr lang="en-US" sz="4000" dirty="0"/>
          </a:p>
        </p:txBody>
      </p:sp>
      <p:sp>
        <p:nvSpPr>
          <p:cNvPr id="7" name="Text 4"/>
          <p:cNvSpPr txBox="1"/>
          <p:nvPr/>
        </p:nvSpPr>
        <p:spPr>
          <a:xfrm>
            <a:off x="3246120" y="1828800"/>
            <a:ext cx="256032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ROC-AUC, any overlap (target 0.85)</a:t>
            </a:r>
            <a:endParaRPr lang="en-US" sz="1200" dirty="0"/>
          </a:p>
        </p:txBody>
      </p:sp>
      <p:sp>
        <p:nvSpPr>
          <p:cNvPr id="8" name="Text 5"/>
          <p:cNvSpPr txBox="1"/>
          <p:nvPr/>
        </p:nvSpPr>
        <p:spPr>
          <a:xfrm>
            <a:off x="6035040" y="1097280"/>
            <a:ext cx="2560320" cy="685800"/>
          </a:xfrm>
          <a:prstGeom prst="rect">
            <a:avLst/>
          </a:prstGeom>
          <a:noFill/>
          <a:ln/>
        </p:spPr>
        <p:txBody>
          <a:bodyPr wrap="square" lIns="0" tIns="0" rIns="0" bIns="0" rtlCol="0" anchor="b"/>
          <a:lstStyle/>
          <a:p>
            <a:pPr indent="0" marL="0">
              <a:buNone/>
            </a:pPr>
            <a:r>
              <a:rPr lang="en-US" sz="4000" b="1" dirty="0">
                <a:solidFill>
                  <a:srgbClr val="0E7C7B"/>
                </a:solidFill>
                <a:latin typeface="Cambria" pitchFamily="34" charset="0"/>
                <a:ea typeface="Cambria" pitchFamily="34" charset="-122"/>
                <a:cs typeface="Cambria" pitchFamily="34" charset="-120"/>
              </a:rPr>
              <a:t>0.800</a:t>
            </a:r>
            <a:endParaRPr lang="en-US" sz="4000" dirty="0"/>
          </a:p>
        </p:txBody>
      </p:sp>
      <p:sp>
        <p:nvSpPr>
          <p:cNvPr id="9" name="Text 6"/>
          <p:cNvSpPr txBox="1"/>
          <p:nvPr/>
        </p:nvSpPr>
        <p:spPr>
          <a:xfrm>
            <a:off x="6035040" y="1828800"/>
            <a:ext cx="256032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precision of top redundancy flags (target 0.7)</a:t>
            </a:r>
            <a:endParaRPr lang="en-US" sz="1200" dirty="0"/>
          </a:p>
        </p:txBody>
      </p:sp>
      <p:sp>
        <p:nvSpPr>
          <p:cNvPr id="10" name="overlap example"/>
          <p:cNvSpPr/>
          <p:nvPr/>
        </p:nvSpPr>
        <p:spPr>
          <a:xfrm>
            <a:off x="457200" y="2788920"/>
            <a:ext cx="8229600" cy="1188720"/>
          </a:xfrm>
          <a:prstGeom prst="roundRect">
            <a:avLst>
              <a:gd name="adj" fmla="val 6154"/>
            </a:avLst>
          </a:prstGeom>
          <a:solidFill>
            <a:srgbClr val="E3F1F0"/>
          </a:solidFill>
          <a:ln w="12700">
            <a:solidFill>
              <a:srgbClr val="E3F1F0"/>
            </a:solidFill>
            <a:prstDash val="solid"/>
          </a:ln>
        </p:spPr>
      </p:sp>
      <p:sp>
        <p:nvSpPr>
          <p:cNvPr id="11" name="badge e.g."/>
          <p:cNvSpPr/>
          <p:nvPr/>
        </p:nvSpPr>
        <p:spPr>
          <a:xfrm>
            <a:off x="685800" y="3017520"/>
            <a:ext cx="384048" cy="384048"/>
          </a:xfrm>
          <a:prstGeom prst="ellipse">
            <a:avLst/>
          </a:prstGeom>
          <a:solidFill>
            <a:srgbClr val="D98E04"/>
          </a:solidFill>
          <a:ln w="12700">
            <a:solidFill>
              <a:srgbClr val="D98E04"/>
            </a:solidFill>
            <a:prstDash val="solid"/>
          </a:ln>
        </p:spPr>
      </p:sp>
      <p:sp>
        <p:nvSpPr>
          <p:cNvPr id="12" name="Text 9"/>
          <p:cNvSpPr txBox="1"/>
          <p:nvPr/>
        </p:nvSpPr>
        <p:spPr>
          <a:xfrm>
            <a:off x="68580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e.g.</a:t>
            </a:r>
            <a:endParaRPr lang="en-US" sz="1400" dirty="0"/>
          </a:p>
        </p:txBody>
      </p:sp>
      <p:sp>
        <p:nvSpPr>
          <p:cNvPr id="13" name="Text 10"/>
          <p:cNvSpPr txBox="1"/>
          <p:nvPr/>
        </p:nvSpPr>
        <p:spPr>
          <a:xfrm>
            <a:off x="1234440" y="2999232"/>
            <a:ext cx="7223760" cy="914400"/>
          </a:xfrm>
          <a:prstGeom prst="rect">
            <a:avLst/>
          </a:prstGeom>
          <a:noFill/>
          <a:ln/>
        </p:spPr>
        <p:txBody>
          <a:bodyPr wrap="square" lIns="0" tIns="0" rIns="0" bIns="0" rtlCol="0" anchor="t"/>
          <a:lstStyle/>
          <a:p>
            <a:pPr indent="0" marL="0">
              <a:buNone/>
            </a:pPr>
            <a:r>
              <a:rPr lang="en-US" sz="1700" b="1" dirty="0">
                <a:solidFill>
                  <a:srgbClr val="1B2B34"/>
                </a:solidFill>
                <a:latin typeface="Cambria" pitchFamily="34" charset="0"/>
                <a:ea typeface="Cambria" pitchFamily="34" charset="-122"/>
                <a:cs typeface="Cambria" pitchFamily="34" charset="-120"/>
              </a:rPr>
              <a:t>3 of 10 NLP-course pairs are identical</a:t>
            </a:r>
            <a:endParaRPr lang="en-US" sz="1400" dirty="0"/>
          </a:p>
          <a:p>
            <a:pPr indent="0" marL="0">
              <a:buNone/>
            </a:pPr>
            <a:r>
              <a:rPr lang="en-US" sz="1300" dirty="0">
                <a:solidFill>
                  <a:srgbClr val="5B6770"/>
                </a:solidFill>
                <a:latin typeface="Calibri" pitchFamily="34" charset="0"/>
                <a:ea typeface="Calibri" pitchFamily="34" charset="-122"/>
                <a:cs typeface="Calibri" pitchFamily="34" charset="-120"/>
              </a:rPr>
              <a:t>Natural Language Processing is taught with the same units in AI, COMP / CSE-DS / IT and EXTC; Speech and NLP overlaps it strongly; Generative AI hardly overlaps. A committee can merge these into one course.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Prerequisites: an honest trade-off</a:t>
            </a:r>
            <a:endParaRPr lang="en-US" sz="3200" dirty="0"/>
          </a:p>
        </p:txBody>
      </p:sp>
      <p:graphicFrame>
        <p:nvGraphicFramePr>
          <p:cNvPr id="4" name="Chart 0" descr=""/>
          <p:cNvGraphicFramePr/>
          <p:nvPr/>
        </p:nvGraphicFramePr>
        <p:xfrm>
          <a:off x="45720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852160" y="1143000"/>
            <a:ext cx="2834640" cy="365760"/>
          </a:xfrm>
          <a:prstGeom prst="rect">
            <a:avLst/>
          </a:prstGeom>
          <a:noFill/>
          <a:ln/>
        </p:spPr>
        <p:txBody>
          <a:bodyPr wrap="square" lIns="0" tIns="0" rIns="0" bIns="0" rtlCol="0" anchor="t"/>
          <a:lstStyle/>
          <a:p>
            <a:pPr indent="0" marL="0">
              <a:buNone/>
            </a:pPr>
            <a:r>
              <a:rPr lang="en-US" sz="1600" b="1" dirty="0">
                <a:solidFill>
                  <a:srgbClr val="0E7C7B"/>
                </a:solidFill>
                <a:latin typeface="Cambria" pitchFamily="34" charset="0"/>
                <a:ea typeface="Cambria" pitchFamily="34" charset="-122"/>
                <a:cs typeface="Cambria" pitchFamily="34" charset="-120"/>
              </a:rPr>
              <a:t>Fewer false alarms</a:t>
            </a:r>
            <a:endParaRPr lang="en-US" sz="1600" dirty="0"/>
          </a:p>
        </p:txBody>
      </p:sp>
      <p:sp>
        <p:nvSpPr>
          <p:cNvPr id="6" name="Text 2"/>
          <p:cNvSpPr txBox="1"/>
          <p:nvPr/>
        </p:nvSpPr>
        <p:spPr>
          <a:xfrm>
            <a:off x="5852160" y="1508760"/>
            <a:ext cx="2834640" cy="59436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rename false alarms 0.120 → 0.000</a:t>
            </a:r>
            <a:endParaRPr lang="en-US" sz="1200" dirty="0"/>
          </a:p>
        </p:txBody>
      </p:sp>
      <p:sp>
        <p:nvSpPr>
          <p:cNvPr id="7" name="Text 3"/>
          <p:cNvSpPr txBox="1"/>
          <p:nvPr/>
        </p:nvSpPr>
        <p:spPr>
          <a:xfrm>
            <a:off x="5852160" y="2240280"/>
            <a:ext cx="2834640" cy="365760"/>
          </a:xfrm>
          <a:prstGeom prst="rect">
            <a:avLst/>
          </a:prstGeom>
          <a:noFill/>
          <a:ln/>
        </p:spPr>
        <p:txBody>
          <a:bodyPr wrap="square" lIns="0" tIns="0" rIns="0" bIns="0" rtlCol="0" anchor="t"/>
          <a:lstStyle/>
          <a:p>
            <a:pPr indent="0" marL="0">
              <a:buNone/>
            </a:pPr>
            <a:r>
              <a:rPr lang="en-US" sz="1600" b="1" dirty="0">
                <a:solidFill>
                  <a:srgbClr val="D98E04"/>
                </a:solidFill>
                <a:latin typeface="Cambria" pitchFamily="34" charset="0"/>
                <a:ea typeface="Cambria" pitchFamily="34" charset="-122"/>
                <a:cs typeface="Cambria" pitchFamily="34" charset="-120"/>
              </a:rPr>
              <a:t>Higher precision</a:t>
            </a:r>
            <a:endParaRPr lang="en-US" sz="1600" dirty="0"/>
          </a:p>
        </p:txBody>
      </p:sp>
      <p:sp>
        <p:nvSpPr>
          <p:cNvPr id="8" name="Text 4"/>
          <p:cNvSpPr txBox="1"/>
          <p:nvPr/>
        </p:nvSpPr>
        <p:spPr>
          <a:xfrm>
            <a:off x="5852160" y="2606040"/>
            <a:ext cx="2834640" cy="59436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0.100 → 0.500 (n = 14); target 0.6 still missed</a:t>
            </a:r>
            <a:endParaRPr lang="en-US" sz="1200" dirty="0"/>
          </a:p>
        </p:txBody>
      </p:sp>
      <p:sp>
        <p:nvSpPr>
          <p:cNvPr id="9" name="Text 5"/>
          <p:cNvSpPr txBox="1"/>
          <p:nvPr/>
        </p:nvSpPr>
        <p:spPr>
          <a:xfrm>
            <a:off x="5852160" y="3337560"/>
            <a:ext cx="2834640" cy="365760"/>
          </a:xfrm>
          <a:prstGeom prst="rect">
            <a:avLst/>
          </a:prstGeom>
          <a:noFill/>
          <a:ln/>
        </p:spPr>
        <p:txBody>
          <a:bodyPr wrap="square" lIns="0" tIns="0" rIns="0" bIns="0" rtlCol="0" anchor="t"/>
          <a:lstStyle/>
          <a:p>
            <a:pPr indent="0" marL="0">
              <a:buNone/>
            </a:pPr>
            <a:r>
              <a:rPr lang="en-US" sz="1600" b="1" dirty="0">
                <a:solidFill>
                  <a:srgbClr val="B4473C"/>
                </a:solidFill>
                <a:latin typeface="Cambria" pitchFamily="34" charset="0"/>
                <a:ea typeface="Cambria" pitchFamily="34" charset="-122"/>
                <a:cs typeface="Cambria" pitchFamily="34" charset="-120"/>
              </a:rPr>
              <a:t>Lower recall</a:t>
            </a:r>
            <a:endParaRPr lang="en-US" sz="1600" dirty="0"/>
          </a:p>
        </p:txBody>
      </p:sp>
      <p:sp>
        <p:nvSpPr>
          <p:cNvPr id="10" name="Text 6"/>
          <p:cNvSpPr txBox="1"/>
          <p:nvPr/>
        </p:nvSpPr>
        <p:spPr>
          <a:xfrm>
            <a:off x="5852160" y="3703320"/>
            <a:ext cx="2834640" cy="59436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0.880 → 0.711; below the 0.8 target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Demo: from JDs to a new syllabus</a:t>
            </a:r>
            <a:endParaRPr lang="en-US" sz="3200" dirty="0"/>
          </a:p>
        </p:txBody>
      </p:sp>
      <p:sp>
        <p:nvSpPr>
          <p:cNvPr id="4" name="step 1"/>
          <p:cNvSpPr/>
          <p:nvPr/>
        </p:nvSpPr>
        <p:spPr>
          <a:xfrm>
            <a:off x="457200" y="1097280"/>
            <a:ext cx="1920240" cy="1508760"/>
          </a:xfrm>
          <a:prstGeom prst="roundRect">
            <a:avLst>
              <a:gd name="adj" fmla="val 4848"/>
            </a:avLst>
          </a:prstGeom>
          <a:solidFill>
            <a:srgbClr val="E3F1F0"/>
          </a:solidFill>
          <a:ln w="12700">
            <a:solidFill>
              <a:srgbClr val="E3F1F0"/>
            </a:solidFill>
            <a:prstDash val="solid"/>
          </a:ln>
        </p:spPr>
      </p:sp>
      <p:sp>
        <p:nvSpPr>
          <p:cNvPr id="5" name="badge 1"/>
          <p:cNvSpPr/>
          <p:nvPr/>
        </p:nvSpPr>
        <p:spPr>
          <a:xfrm>
            <a:off x="640080" y="1261872"/>
            <a:ext cx="384048" cy="384048"/>
          </a:xfrm>
          <a:prstGeom prst="ellipse">
            <a:avLst/>
          </a:prstGeom>
          <a:solidFill>
            <a:srgbClr val="0E7C7B"/>
          </a:solidFill>
          <a:ln w="12700">
            <a:solidFill>
              <a:srgbClr val="0E7C7B"/>
            </a:solidFill>
            <a:prstDash val="solid"/>
          </a:ln>
        </p:spPr>
      </p:sp>
      <p:sp>
        <p:nvSpPr>
          <p:cNvPr id="6" name="Text 3"/>
          <p:cNvSpPr txBox="1"/>
          <p:nvPr/>
        </p:nvSpPr>
        <p:spPr>
          <a:xfrm>
            <a:off x="640080" y="1261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43000" y="1280160"/>
            <a:ext cx="1143000" cy="365760"/>
          </a:xfrm>
          <a:prstGeom prst="rect">
            <a:avLst/>
          </a:prstGeom>
          <a:noFill/>
          <a:ln/>
        </p:spPr>
        <p:txBody>
          <a:bodyPr wrap="square" lIns="0" tIns="0" rIns="0" bIns="0" rtlCol="0" anchor="ctr"/>
          <a:lstStyle/>
          <a:p>
            <a:pPr indent="0" marL="0">
              <a:buNone/>
            </a:pPr>
            <a:r>
              <a:rPr lang="en-US" sz="1600" b="1" dirty="0">
                <a:solidFill>
                  <a:srgbClr val="1B2B34"/>
                </a:solidFill>
                <a:latin typeface="Cambria" pitchFamily="34" charset="0"/>
                <a:ea typeface="Cambria" pitchFamily="34" charset="-122"/>
                <a:cs typeface="Cambria" pitchFamily="34" charset="-120"/>
              </a:rPr>
              <a:t>Input</a:t>
            </a:r>
            <a:endParaRPr lang="en-US" sz="1600" dirty="0"/>
          </a:p>
        </p:txBody>
      </p:sp>
      <p:sp>
        <p:nvSpPr>
          <p:cNvPr id="8" name="Text 5"/>
          <p:cNvSpPr txBox="1"/>
          <p:nvPr/>
        </p:nvSpPr>
        <p:spPr>
          <a:xfrm>
            <a:off x="640080" y="1783080"/>
            <a:ext cx="1600200" cy="731520"/>
          </a:xfrm>
          <a:prstGeom prst="rect">
            <a:avLst/>
          </a:prstGeom>
          <a:noFill/>
          <a:ln/>
        </p:spPr>
        <p:txBody>
          <a:bodyPr wrap="square" lIns="0" tIns="0" rIns="0" bIns="0" rtlCol="0" anchor="t"/>
          <a:lstStyle/>
          <a:p>
            <a:pPr indent="0" marL="0">
              <a:buNone/>
            </a:pPr>
            <a:r>
              <a:rPr lang="en-US" sz="1300" dirty="0">
                <a:solidFill>
                  <a:srgbClr val="1B2B34"/>
                </a:solidFill>
                <a:latin typeface="Calibri" pitchFamily="34" charset="0"/>
                <a:ea typeface="Calibri" pitchFamily="34" charset="-122"/>
                <a:cs typeface="Calibri" pitchFamily="34" charset="-120"/>
              </a:rPr>
              <a:t>5 JDs + 5 current NLP syllabi</a:t>
            </a:r>
            <a:endParaRPr lang="en-US" sz="1300" dirty="0"/>
          </a:p>
        </p:txBody>
      </p:sp>
      <p:sp>
        <p:nvSpPr>
          <p:cNvPr id="9" name="arrow 1"/>
          <p:cNvSpPr/>
          <p:nvPr/>
        </p:nvSpPr>
        <p:spPr>
          <a:xfrm>
            <a:off x="2395728" y="1737360"/>
            <a:ext cx="146304" cy="237744"/>
          </a:xfrm>
          <a:prstGeom prst="chevron">
            <a:avLst/>
          </a:prstGeom>
          <a:solidFill>
            <a:srgbClr val="D5DCE0"/>
          </a:solidFill>
          <a:ln w="12700">
            <a:solidFill>
              <a:srgbClr val="D5DCE0"/>
            </a:solidFill>
            <a:prstDash val="solid"/>
          </a:ln>
        </p:spPr>
      </p:sp>
      <p:sp>
        <p:nvSpPr>
          <p:cNvPr id="10" name="step 2"/>
          <p:cNvSpPr/>
          <p:nvPr/>
        </p:nvSpPr>
        <p:spPr>
          <a:xfrm>
            <a:off x="2560320" y="1097280"/>
            <a:ext cx="1920240" cy="1508760"/>
          </a:xfrm>
          <a:prstGeom prst="roundRect">
            <a:avLst>
              <a:gd name="adj" fmla="val 4848"/>
            </a:avLst>
          </a:prstGeom>
          <a:solidFill>
            <a:srgbClr val="E3F1F0"/>
          </a:solidFill>
          <a:ln w="12700">
            <a:solidFill>
              <a:srgbClr val="E3F1F0"/>
            </a:solidFill>
            <a:prstDash val="solid"/>
          </a:ln>
        </p:spPr>
      </p:sp>
      <p:sp>
        <p:nvSpPr>
          <p:cNvPr id="11" name="badge 2"/>
          <p:cNvSpPr/>
          <p:nvPr/>
        </p:nvSpPr>
        <p:spPr>
          <a:xfrm>
            <a:off x="2743200" y="1261872"/>
            <a:ext cx="384048" cy="384048"/>
          </a:xfrm>
          <a:prstGeom prst="ellipse">
            <a:avLst/>
          </a:prstGeom>
          <a:solidFill>
            <a:srgbClr val="0E7C7B"/>
          </a:solidFill>
          <a:ln w="12700">
            <a:solidFill>
              <a:srgbClr val="0E7C7B"/>
            </a:solidFill>
            <a:prstDash val="solid"/>
          </a:ln>
        </p:spPr>
      </p:sp>
      <p:sp>
        <p:nvSpPr>
          <p:cNvPr id="12" name="Text 9"/>
          <p:cNvSpPr txBox="1"/>
          <p:nvPr/>
        </p:nvSpPr>
        <p:spPr>
          <a:xfrm>
            <a:off x="2743200" y="1261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3246120" y="1280160"/>
            <a:ext cx="1143000" cy="365760"/>
          </a:xfrm>
          <a:prstGeom prst="rect">
            <a:avLst/>
          </a:prstGeom>
          <a:noFill/>
          <a:ln/>
        </p:spPr>
        <p:txBody>
          <a:bodyPr wrap="square" lIns="0" tIns="0" rIns="0" bIns="0" rtlCol="0" anchor="ctr"/>
          <a:lstStyle/>
          <a:p>
            <a:pPr indent="0" marL="0">
              <a:buNone/>
            </a:pPr>
            <a:r>
              <a:rPr lang="en-US" sz="1600" b="1" dirty="0">
                <a:solidFill>
                  <a:srgbClr val="1B2B34"/>
                </a:solidFill>
                <a:latin typeface="Cambria" pitchFamily="34" charset="0"/>
                <a:ea typeface="Cambria" pitchFamily="34" charset="-122"/>
                <a:cs typeface="Cambria" pitchFamily="34" charset="-120"/>
              </a:rPr>
              <a:t>Overlap</a:t>
            </a:r>
            <a:endParaRPr lang="en-US" sz="1600" dirty="0"/>
          </a:p>
        </p:txBody>
      </p:sp>
      <p:sp>
        <p:nvSpPr>
          <p:cNvPr id="14" name="Text 11"/>
          <p:cNvSpPr txBox="1"/>
          <p:nvPr/>
        </p:nvSpPr>
        <p:spPr>
          <a:xfrm>
            <a:off x="2743200" y="1783080"/>
            <a:ext cx="1600200" cy="731520"/>
          </a:xfrm>
          <a:prstGeom prst="rect">
            <a:avLst/>
          </a:prstGeom>
          <a:noFill/>
          <a:ln/>
        </p:spPr>
        <p:txBody>
          <a:bodyPr wrap="square" lIns="0" tIns="0" rIns="0" bIns="0" rtlCol="0" anchor="t"/>
          <a:lstStyle/>
          <a:p>
            <a:pPr indent="0" marL="0">
              <a:buNone/>
            </a:pPr>
            <a:r>
              <a:rPr lang="en-US" sz="1300" dirty="0">
                <a:solidFill>
                  <a:srgbClr val="1B2B34"/>
                </a:solidFill>
                <a:latin typeface="Calibri" pitchFamily="34" charset="0"/>
                <a:ea typeface="Calibri" pitchFamily="34" charset="-122"/>
                <a:cs typeface="Calibri" pitchFamily="34" charset="-120"/>
              </a:rPr>
              <a:t>3 of 10 syllabus pairs identical</a:t>
            </a:r>
            <a:endParaRPr lang="en-US" sz="1300" dirty="0"/>
          </a:p>
        </p:txBody>
      </p:sp>
      <p:sp>
        <p:nvSpPr>
          <p:cNvPr id="15" name="arrow 2"/>
          <p:cNvSpPr/>
          <p:nvPr/>
        </p:nvSpPr>
        <p:spPr>
          <a:xfrm>
            <a:off x="4498848" y="1737360"/>
            <a:ext cx="146304" cy="237744"/>
          </a:xfrm>
          <a:prstGeom prst="chevron">
            <a:avLst/>
          </a:prstGeom>
          <a:solidFill>
            <a:srgbClr val="D5DCE0"/>
          </a:solidFill>
          <a:ln w="12700">
            <a:solidFill>
              <a:srgbClr val="D5DCE0"/>
            </a:solidFill>
            <a:prstDash val="solid"/>
          </a:ln>
        </p:spPr>
      </p:sp>
      <p:sp>
        <p:nvSpPr>
          <p:cNvPr id="16" name="step 3"/>
          <p:cNvSpPr/>
          <p:nvPr/>
        </p:nvSpPr>
        <p:spPr>
          <a:xfrm>
            <a:off x="4663440" y="1097280"/>
            <a:ext cx="1920240" cy="1508760"/>
          </a:xfrm>
          <a:prstGeom prst="roundRect">
            <a:avLst>
              <a:gd name="adj" fmla="val 4848"/>
            </a:avLst>
          </a:prstGeom>
          <a:solidFill>
            <a:srgbClr val="E3F1F0"/>
          </a:solidFill>
          <a:ln w="12700">
            <a:solidFill>
              <a:srgbClr val="E3F1F0"/>
            </a:solidFill>
            <a:prstDash val="solid"/>
          </a:ln>
        </p:spPr>
      </p:sp>
      <p:sp>
        <p:nvSpPr>
          <p:cNvPr id="17" name="badge 3"/>
          <p:cNvSpPr/>
          <p:nvPr/>
        </p:nvSpPr>
        <p:spPr>
          <a:xfrm>
            <a:off x="4846320" y="1261872"/>
            <a:ext cx="384048" cy="384048"/>
          </a:xfrm>
          <a:prstGeom prst="ellipse">
            <a:avLst/>
          </a:prstGeom>
          <a:solidFill>
            <a:srgbClr val="0E7C7B"/>
          </a:solidFill>
          <a:ln w="12700">
            <a:solidFill>
              <a:srgbClr val="0E7C7B"/>
            </a:solidFill>
            <a:prstDash val="solid"/>
          </a:ln>
        </p:spPr>
      </p:sp>
      <p:sp>
        <p:nvSpPr>
          <p:cNvPr id="18" name="Text 15"/>
          <p:cNvSpPr txBox="1"/>
          <p:nvPr/>
        </p:nvSpPr>
        <p:spPr>
          <a:xfrm>
            <a:off x="4846320" y="1261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5349240" y="1280160"/>
            <a:ext cx="1143000" cy="365760"/>
          </a:xfrm>
          <a:prstGeom prst="rect">
            <a:avLst/>
          </a:prstGeom>
          <a:noFill/>
          <a:ln/>
        </p:spPr>
        <p:txBody>
          <a:bodyPr wrap="square" lIns="0" tIns="0" rIns="0" bIns="0" rtlCol="0" anchor="ctr"/>
          <a:lstStyle/>
          <a:p>
            <a:pPr indent="0" marL="0">
              <a:buNone/>
            </a:pPr>
            <a:r>
              <a:rPr lang="en-US" sz="1600" b="1" dirty="0">
                <a:solidFill>
                  <a:srgbClr val="1B2B34"/>
                </a:solidFill>
                <a:latin typeface="Cambria" pitchFamily="34" charset="0"/>
                <a:ea typeface="Cambria" pitchFamily="34" charset="-122"/>
                <a:cs typeface="Cambria" pitchFamily="34" charset="-120"/>
              </a:rPr>
              <a:t>Skills</a:t>
            </a:r>
            <a:endParaRPr lang="en-US" sz="1600" dirty="0"/>
          </a:p>
        </p:txBody>
      </p:sp>
      <p:sp>
        <p:nvSpPr>
          <p:cNvPr id="20" name="Text 17"/>
          <p:cNvSpPr txBox="1"/>
          <p:nvPr/>
        </p:nvSpPr>
        <p:spPr>
          <a:xfrm>
            <a:off x="4846320" y="1783080"/>
            <a:ext cx="1600200" cy="731520"/>
          </a:xfrm>
          <a:prstGeom prst="rect">
            <a:avLst/>
          </a:prstGeom>
          <a:noFill/>
          <a:ln/>
        </p:spPr>
        <p:txBody>
          <a:bodyPr wrap="square" lIns="0" tIns="0" rIns="0" bIns="0" rtlCol="0" anchor="t"/>
          <a:lstStyle/>
          <a:p>
            <a:pPr indent="0" marL="0">
              <a:buNone/>
            </a:pPr>
            <a:r>
              <a:rPr lang="en-US" sz="1300" dirty="0">
                <a:solidFill>
                  <a:srgbClr val="1B2B34"/>
                </a:solidFill>
                <a:latin typeface="Calibri" pitchFamily="34" charset="0"/>
                <a:ea typeface="Calibri" pitchFamily="34" charset="-122"/>
                <a:cs typeface="Calibri" pitchFamily="34" charset="-120"/>
              </a:rPr>
              <a:t>15 demanded: 6 taught, 9 gaps</a:t>
            </a:r>
            <a:endParaRPr lang="en-US" sz="1300" dirty="0"/>
          </a:p>
        </p:txBody>
      </p:sp>
      <p:sp>
        <p:nvSpPr>
          <p:cNvPr id="21" name="arrow 3"/>
          <p:cNvSpPr/>
          <p:nvPr/>
        </p:nvSpPr>
        <p:spPr>
          <a:xfrm>
            <a:off x="6601968" y="1737360"/>
            <a:ext cx="146304" cy="237744"/>
          </a:xfrm>
          <a:prstGeom prst="chevron">
            <a:avLst/>
          </a:prstGeom>
          <a:solidFill>
            <a:srgbClr val="D5DCE0"/>
          </a:solidFill>
          <a:ln w="12700">
            <a:solidFill>
              <a:srgbClr val="D5DCE0"/>
            </a:solidFill>
            <a:prstDash val="solid"/>
          </a:ln>
        </p:spPr>
      </p:sp>
      <p:sp>
        <p:nvSpPr>
          <p:cNvPr id="22" name="step 4"/>
          <p:cNvSpPr/>
          <p:nvPr/>
        </p:nvSpPr>
        <p:spPr>
          <a:xfrm>
            <a:off x="6766560" y="1097280"/>
            <a:ext cx="1920240" cy="1508760"/>
          </a:xfrm>
          <a:prstGeom prst="roundRect">
            <a:avLst>
              <a:gd name="adj" fmla="val 4848"/>
            </a:avLst>
          </a:prstGeom>
          <a:solidFill>
            <a:srgbClr val="E3F1F0"/>
          </a:solidFill>
          <a:ln w="12700">
            <a:solidFill>
              <a:srgbClr val="E3F1F0"/>
            </a:solidFill>
            <a:prstDash val="solid"/>
          </a:ln>
        </p:spPr>
      </p:sp>
      <p:sp>
        <p:nvSpPr>
          <p:cNvPr id="23" name="badge 4"/>
          <p:cNvSpPr/>
          <p:nvPr/>
        </p:nvSpPr>
        <p:spPr>
          <a:xfrm>
            <a:off x="6949440" y="1261872"/>
            <a:ext cx="384048" cy="384048"/>
          </a:xfrm>
          <a:prstGeom prst="ellipse">
            <a:avLst/>
          </a:prstGeom>
          <a:solidFill>
            <a:srgbClr val="0E7C7B"/>
          </a:solidFill>
          <a:ln w="12700">
            <a:solidFill>
              <a:srgbClr val="0E7C7B"/>
            </a:solidFill>
            <a:prstDash val="solid"/>
          </a:ln>
        </p:spPr>
      </p:sp>
      <p:sp>
        <p:nvSpPr>
          <p:cNvPr id="24" name="Text 21"/>
          <p:cNvSpPr txBox="1"/>
          <p:nvPr/>
        </p:nvSpPr>
        <p:spPr>
          <a:xfrm>
            <a:off x="6949440" y="1261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7452360" y="1280160"/>
            <a:ext cx="1143000" cy="365760"/>
          </a:xfrm>
          <a:prstGeom prst="rect">
            <a:avLst/>
          </a:prstGeom>
          <a:noFill/>
          <a:ln/>
        </p:spPr>
        <p:txBody>
          <a:bodyPr wrap="square" lIns="0" tIns="0" rIns="0" bIns="0" rtlCol="0" anchor="ctr"/>
          <a:lstStyle/>
          <a:p>
            <a:pPr indent="0" marL="0">
              <a:buNone/>
            </a:pPr>
            <a:r>
              <a:rPr lang="en-US" sz="1600" b="1" dirty="0">
                <a:solidFill>
                  <a:srgbClr val="1B2B34"/>
                </a:solidFill>
                <a:latin typeface="Cambria" pitchFamily="34" charset="0"/>
                <a:ea typeface="Cambria" pitchFamily="34" charset="-122"/>
                <a:cs typeface="Cambria" pitchFamily="34" charset="-120"/>
              </a:rPr>
              <a:t>Draft</a:t>
            </a:r>
            <a:endParaRPr lang="en-US" sz="1600" dirty="0"/>
          </a:p>
        </p:txBody>
      </p:sp>
      <p:sp>
        <p:nvSpPr>
          <p:cNvPr id="26" name="Text 23"/>
          <p:cNvSpPr txBox="1"/>
          <p:nvPr/>
        </p:nvSpPr>
        <p:spPr>
          <a:xfrm>
            <a:off x="6949440" y="1783080"/>
            <a:ext cx="1600200" cy="731520"/>
          </a:xfrm>
          <a:prstGeom prst="rect">
            <a:avLst/>
          </a:prstGeom>
          <a:noFill/>
          <a:ln/>
        </p:spPr>
        <p:txBody>
          <a:bodyPr wrap="square" lIns="0" tIns="0" rIns="0" bIns="0" rtlCol="0" anchor="t"/>
          <a:lstStyle/>
          <a:p>
            <a:pPr indent="0" marL="0">
              <a:buNone/>
            </a:pPr>
            <a:r>
              <a:rPr lang="en-US" sz="1300" dirty="0">
                <a:solidFill>
                  <a:srgbClr val="1B2B34"/>
                </a:solidFill>
                <a:latin typeface="Calibri" pitchFamily="34" charset="0"/>
                <a:ea typeface="Calibri" pitchFamily="34" charset="-122"/>
                <a:cs typeface="Calibri" pitchFamily="34" charset="-120"/>
              </a:rPr>
              <a:t>11 units: 5 shared, 2 kept, 4 new</a:t>
            </a:r>
            <a:endParaRPr lang="en-US" sz="1300" dirty="0"/>
          </a:p>
        </p:txBody>
      </p:sp>
      <p:sp>
        <p:nvSpPr>
          <p:cNvPr id="27" name="handoff 1"/>
          <p:cNvSpPr/>
          <p:nvPr/>
        </p:nvSpPr>
        <p:spPr>
          <a:xfrm>
            <a:off x="457200" y="2880360"/>
            <a:ext cx="2606040" cy="1554480"/>
          </a:xfrm>
          <a:prstGeom prst="roundRect">
            <a:avLst>
              <a:gd name="adj" fmla="val 4706"/>
            </a:avLst>
          </a:prstGeom>
          <a:solidFill>
            <a:srgbClr val="F2F5F6"/>
          </a:solidFill>
          <a:ln w="12700">
            <a:solidFill>
              <a:srgbClr val="F2F5F6"/>
            </a:solidFill>
            <a:prstDash val="solid"/>
          </a:ln>
        </p:spPr>
      </p:sp>
      <p:sp>
        <p:nvSpPr>
          <p:cNvPr id="28" name="Text 25"/>
          <p:cNvSpPr txBox="1"/>
          <p:nvPr/>
        </p:nvSpPr>
        <p:spPr>
          <a:xfrm>
            <a:off x="640080" y="2999232"/>
            <a:ext cx="2286000" cy="365760"/>
          </a:xfrm>
          <a:prstGeom prst="rect">
            <a:avLst/>
          </a:prstGeom>
          <a:noFill/>
          <a:ln/>
        </p:spPr>
        <p:txBody>
          <a:bodyPr wrap="square" lIns="0" tIns="0" rIns="0" bIns="0" rtlCol="0" anchor="t"/>
          <a:lstStyle/>
          <a:p>
            <a:pPr indent="0" marL="0">
              <a:buNone/>
            </a:pPr>
            <a:r>
              <a:rPr lang="en-US" sz="1400" b="1" dirty="0">
                <a:solidFill>
                  <a:srgbClr val="0E7C7B"/>
                </a:solidFill>
                <a:latin typeface="Calibri" pitchFamily="34" charset="0"/>
                <a:ea typeface="Calibri" pitchFamily="34" charset="-122"/>
                <a:cs typeface="Calibri" pitchFamily="34" charset="-120"/>
              </a:rPr>
              <a:t>Group 11 · Communications</a:t>
            </a:r>
            <a:endParaRPr lang="en-US" sz="1400" dirty="0"/>
          </a:p>
        </p:txBody>
      </p:sp>
      <p:sp>
        <p:nvSpPr>
          <p:cNvPr id="29" name="Text 26"/>
          <p:cNvSpPr txBox="1"/>
          <p:nvPr/>
        </p:nvSpPr>
        <p:spPr>
          <a:xfrm>
            <a:off x="640080" y="3383280"/>
            <a:ext cx="2286000" cy="9601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Notice in their /process-notice schema → one email per audience (this run: mock; live once their service runs)</a:t>
            </a:r>
            <a:endParaRPr lang="en-US" sz="1200" dirty="0"/>
          </a:p>
        </p:txBody>
      </p:sp>
      <p:sp>
        <p:nvSpPr>
          <p:cNvPr id="30" name="handoff 2"/>
          <p:cNvSpPr/>
          <p:nvPr/>
        </p:nvSpPr>
        <p:spPr>
          <a:xfrm>
            <a:off x="3246120" y="2880360"/>
            <a:ext cx="2606040" cy="1554480"/>
          </a:xfrm>
          <a:prstGeom prst="roundRect">
            <a:avLst>
              <a:gd name="adj" fmla="val 4706"/>
            </a:avLst>
          </a:prstGeom>
          <a:solidFill>
            <a:srgbClr val="F2F5F6"/>
          </a:solidFill>
          <a:ln w="12700">
            <a:solidFill>
              <a:srgbClr val="F2F5F6"/>
            </a:solidFill>
            <a:prstDash val="solid"/>
          </a:ln>
        </p:spPr>
      </p:sp>
      <p:sp>
        <p:nvSpPr>
          <p:cNvPr id="31" name="Text 28"/>
          <p:cNvSpPr txBox="1"/>
          <p:nvPr/>
        </p:nvSpPr>
        <p:spPr>
          <a:xfrm>
            <a:off x="3429000" y="2999232"/>
            <a:ext cx="2286000" cy="365760"/>
          </a:xfrm>
          <a:prstGeom prst="rect">
            <a:avLst/>
          </a:prstGeom>
          <a:noFill/>
          <a:ln/>
        </p:spPr>
        <p:txBody>
          <a:bodyPr wrap="square" lIns="0" tIns="0" rIns="0" bIns="0" rtlCol="0" anchor="t"/>
          <a:lstStyle/>
          <a:p>
            <a:pPr indent="0" marL="0">
              <a:buNone/>
            </a:pPr>
            <a:r>
              <a:rPr lang="en-US" sz="1400" b="1" dirty="0">
                <a:solidFill>
                  <a:srgbClr val="0E7C7B"/>
                </a:solidFill>
                <a:latin typeface="Calibri" pitchFamily="34" charset="0"/>
                <a:ea typeface="Calibri" pitchFamily="34" charset="-122"/>
                <a:cs typeface="Calibri" pitchFamily="34" charset="-120"/>
              </a:rPr>
              <a:t>Group 4 · Knowledge Assistant</a:t>
            </a:r>
            <a:endParaRPr lang="en-US" sz="1400" dirty="0"/>
          </a:p>
        </p:txBody>
      </p:sp>
      <p:sp>
        <p:nvSpPr>
          <p:cNvPr id="32" name="Text 29"/>
          <p:cNvSpPr txBox="1"/>
          <p:nvPr/>
        </p:nvSpPr>
        <p:spPr>
          <a:xfrm>
            <a:off x="3429000" y="3383280"/>
            <a:ext cx="2286000" cy="9601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17 passages in their schema; our stand-in answered 4 of 5 student questions</a:t>
            </a:r>
            <a:endParaRPr lang="en-US" sz="1200" dirty="0"/>
          </a:p>
        </p:txBody>
      </p:sp>
      <p:sp>
        <p:nvSpPr>
          <p:cNvPr id="33" name="handoff 3"/>
          <p:cNvSpPr/>
          <p:nvPr/>
        </p:nvSpPr>
        <p:spPr>
          <a:xfrm>
            <a:off x="6035040" y="2880360"/>
            <a:ext cx="2606040" cy="1554480"/>
          </a:xfrm>
          <a:prstGeom prst="roundRect">
            <a:avLst>
              <a:gd name="adj" fmla="val 4706"/>
            </a:avLst>
          </a:prstGeom>
          <a:solidFill>
            <a:srgbClr val="F2F5F6"/>
          </a:solidFill>
          <a:ln w="12700">
            <a:solidFill>
              <a:srgbClr val="F2F5F6"/>
            </a:solidFill>
            <a:prstDash val="solid"/>
          </a:ln>
        </p:spPr>
      </p:sp>
      <p:sp>
        <p:nvSpPr>
          <p:cNvPr id="34" name="Text 31"/>
          <p:cNvSpPr txBox="1"/>
          <p:nvPr/>
        </p:nvSpPr>
        <p:spPr>
          <a:xfrm>
            <a:off x="6217920" y="2999232"/>
            <a:ext cx="2286000" cy="365760"/>
          </a:xfrm>
          <a:prstGeom prst="rect">
            <a:avLst/>
          </a:prstGeom>
          <a:noFill/>
          <a:ln/>
        </p:spPr>
        <p:txBody>
          <a:bodyPr wrap="square" lIns="0" tIns="0" rIns="0" bIns="0" rtlCol="0" anchor="t"/>
          <a:lstStyle/>
          <a:p>
            <a:pPr indent="0" marL="0">
              <a:buNone/>
            </a:pPr>
            <a:r>
              <a:rPr lang="en-US" sz="1400" b="1" dirty="0">
                <a:solidFill>
                  <a:srgbClr val="0E7C7B"/>
                </a:solidFill>
                <a:latin typeface="Calibri" pitchFamily="34" charset="0"/>
                <a:ea typeface="Calibri" pitchFamily="34" charset="-122"/>
                <a:cs typeface="Calibri" pitchFamily="34" charset="-120"/>
              </a:rPr>
              <a:t>Group 10 · Admin Copilot</a:t>
            </a:r>
            <a:endParaRPr lang="en-US" sz="1400" dirty="0"/>
          </a:p>
        </p:txBody>
      </p:sp>
      <p:sp>
        <p:nvSpPr>
          <p:cNvPr id="35" name="Text 32"/>
          <p:cNvSpPr txBox="1"/>
          <p:nvPr/>
        </p:nvSpPr>
        <p:spPr>
          <a:xfrm>
            <a:off x="6217920" y="3383280"/>
            <a:ext cx="2286000" cy="9601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Can read the same draft syllabus JSON for elective advice (not integrated yet)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Committee UI</a:t>
            </a:r>
            <a:endParaRPr lang="en-US" sz="3200" dirty="0"/>
          </a:p>
        </p:txBody>
      </p:sp>
      <p:pic>
        <p:nvPicPr>
          <p:cNvPr id="4" name="Image 0" descr="D:\study\sem7\SNLP\results\week7\fig_ui_report.png">    </p:cNvPr>
          <p:cNvPicPr>
            <a:picLocks noChangeAspect="1"/>
          </p:cNvPicPr>
          <p:nvPr/>
        </p:nvPicPr>
        <p:blipFill>
          <a:blip r:embed="rId1"/>
          <a:stretch>
            <a:fillRect/>
          </a:stretch>
        </p:blipFill>
        <p:spPr>
          <a:xfrm>
            <a:off x="822960" y="1005840"/>
            <a:ext cx="7498080" cy="3408218"/>
          </a:xfrm>
          <a:prstGeom prst="rect">
            <a:avLst/>
          </a:prstGeom>
        </p:spPr>
      </p:pic>
      <p:sp>
        <p:nvSpPr>
          <p:cNvPr id="5" name="Text 1"/>
          <p:cNvSpPr txBox="1"/>
          <p:nvPr/>
        </p:nvSpPr>
        <p:spPr>
          <a:xfrm>
            <a:off x="822960" y="4462272"/>
            <a:ext cx="7498080" cy="256032"/>
          </a:xfrm>
          <a:prstGeom prst="rect">
            <a:avLst/>
          </a:prstGeom>
          <a:noFill/>
          <a:ln/>
        </p:spPr>
        <p:txBody>
          <a:bodyPr wrap="square" lIns="0" tIns="0" rIns="0" bIns="0" rtlCol="0" anchor="t"/>
          <a:lstStyle/>
          <a:p>
            <a:pPr algn="ctr" indent="0" marL="0">
              <a:buNone/>
            </a:pPr>
            <a:r>
              <a:rPr lang="en-US" sz="1100" dirty="0">
                <a:solidFill>
                  <a:srgbClr val="5B6770"/>
                </a:solidFill>
                <a:latin typeface="Calibri" pitchFamily="34" charset="0"/>
                <a:ea typeface="Calibri" pitchFamily="34" charset="-122"/>
                <a:cs typeface="Calibri" pitchFamily="34" charset="-120"/>
              </a:rPr>
              <a:t>Left: JDs, selected syllabi, overlaps. Right: Group 11 emails (marked mock), a Group 4 answer with its source.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Responsible AI</a:t>
            </a:r>
            <a:endParaRPr lang="en-US" sz="3200" dirty="0"/>
          </a:p>
        </p:txBody>
      </p:sp>
      <p:sp>
        <p:nvSpPr>
          <p:cNvPr id="4" name="risk 1"/>
          <p:cNvSpPr/>
          <p:nvPr/>
        </p:nvSpPr>
        <p:spPr>
          <a:xfrm>
            <a:off x="457200" y="1097280"/>
            <a:ext cx="4023360" cy="1508760"/>
          </a:xfrm>
          <a:prstGeom prst="roundRect">
            <a:avLst>
              <a:gd name="adj" fmla="val 4848"/>
            </a:avLst>
          </a:prstGeom>
          <a:solidFill>
            <a:srgbClr val="E3F1F0"/>
          </a:solidFill>
          <a:ln w="12700">
            <a:solidFill>
              <a:srgbClr val="E3F1F0"/>
            </a:solidFill>
            <a:prstDash val="solid"/>
          </a:ln>
        </p:spPr>
      </p:sp>
      <p:sp>
        <p:nvSpPr>
          <p:cNvPr id="5" name="badge 1"/>
          <p:cNvSpPr/>
          <p:nvPr/>
        </p:nvSpPr>
        <p:spPr>
          <a:xfrm>
            <a:off x="685800" y="1325880"/>
            <a:ext cx="384048" cy="384048"/>
          </a:xfrm>
          <a:prstGeom prst="ellipse">
            <a:avLst/>
          </a:prstGeom>
          <a:solidFill>
            <a:srgbClr val="0E7C7B"/>
          </a:solidFill>
          <a:ln w="12700">
            <a:solidFill>
              <a:srgbClr val="0E7C7B"/>
            </a:solidFill>
            <a:prstDash val="solid"/>
          </a:ln>
        </p:spPr>
      </p:sp>
      <p:sp>
        <p:nvSpPr>
          <p:cNvPr id="6" name="Text 3"/>
          <p:cNvSpPr txBox="1"/>
          <p:nvPr/>
        </p:nvSpPr>
        <p:spPr>
          <a:xfrm>
            <a:off x="68580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325880"/>
            <a:ext cx="3017520" cy="384048"/>
          </a:xfrm>
          <a:prstGeom prst="rect">
            <a:avLst/>
          </a:prstGeom>
          <a:noFill/>
          <a:ln/>
        </p:spPr>
        <p:txBody>
          <a:bodyPr wrap="square" lIns="0" tIns="0" rIns="0" bIns="0" rtlCol="0" anchor="ctr"/>
          <a:lstStyle/>
          <a:p>
            <a:pPr indent="0" marL="0">
              <a:buNone/>
            </a:pPr>
            <a:r>
              <a:rPr lang="en-US" sz="1700" b="1" dirty="0">
                <a:solidFill>
                  <a:srgbClr val="1B2B34"/>
                </a:solidFill>
                <a:latin typeface="Cambria" pitchFamily="34" charset="0"/>
                <a:ea typeface="Cambria" pitchFamily="34" charset="-122"/>
                <a:cs typeface="Cambria" pitchFamily="34" charset="-120"/>
              </a:rPr>
              <a:t>Privacy</a:t>
            </a:r>
            <a:endParaRPr lang="en-US" sz="1700" dirty="0"/>
          </a:p>
        </p:txBody>
      </p:sp>
      <p:sp>
        <p:nvSpPr>
          <p:cNvPr id="8" name="Text 5"/>
          <p:cNvSpPr txBox="1"/>
          <p:nvPr/>
        </p:nvSpPr>
        <p:spPr>
          <a:xfrm>
            <a:off x="1234440" y="1783080"/>
            <a:ext cx="3063240" cy="7315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Booklets and parsed text stay local; only ids, metrics and labels are public</a:t>
            </a:r>
            <a:endParaRPr lang="en-US" sz="1300" dirty="0"/>
          </a:p>
        </p:txBody>
      </p:sp>
      <p:sp>
        <p:nvSpPr>
          <p:cNvPr id="9" name="risk 2"/>
          <p:cNvSpPr/>
          <p:nvPr/>
        </p:nvSpPr>
        <p:spPr>
          <a:xfrm>
            <a:off x="4663440" y="1097280"/>
            <a:ext cx="4023360" cy="1508760"/>
          </a:xfrm>
          <a:prstGeom prst="roundRect">
            <a:avLst>
              <a:gd name="adj" fmla="val 4848"/>
            </a:avLst>
          </a:prstGeom>
          <a:solidFill>
            <a:srgbClr val="E3F1F0"/>
          </a:solidFill>
          <a:ln w="12700">
            <a:solidFill>
              <a:srgbClr val="E3F1F0"/>
            </a:solidFill>
            <a:prstDash val="solid"/>
          </a:ln>
        </p:spPr>
      </p:sp>
      <p:sp>
        <p:nvSpPr>
          <p:cNvPr id="10" name="badge 2"/>
          <p:cNvSpPr/>
          <p:nvPr/>
        </p:nvSpPr>
        <p:spPr>
          <a:xfrm>
            <a:off x="4892040" y="1325880"/>
            <a:ext cx="384048" cy="384048"/>
          </a:xfrm>
          <a:prstGeom prst="ellipse">
            <a:avLst/>
          </a:prstGeom>
          <a:solidFill>
            <a:srgbClr val="0E7C7B"/>
          </a:solidFill>
          <a:ln w="12700">
            <a:solidFill>
              <a:srgbClr val="0E7C7B"/>
            </a:solidFill>
            <a:prstDash val="solid"/>
          </a:ln>
        </p:spPr>
      </p:sp>
      <p:sp>
        <p:nvSpPr>
          <p:cNvPr id="11" name="Text 8"/>
          <p:cNvSpPr txBox="1"/>
          <p:nvPr/>
        </p:nvSpPr>
        <p:spPr>
          <a:xfrm>
            <a:off x="489204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5440680" y="1325880"/>
            <a:ext cx="3017520" cy="384048"/>
          </a:xfrm>
          <a:prstGeom prst="rect">
            <a:avLst/>
          </a:prstGeom>
          <a:noFill/>
          <a:ln/>
        </p:spPr>
        <p:txBody>
          <a:bodyPr wrap="square" lIns="0" tIns="0" rIns="0" bIns="0" rtlCol="0" anchor="ctr"/>
          <a:lstStyle/>
          <a:p>
            <a:pPr indent="0" marL="0">
              <a:buNone/>
            </a:pPr>
            <a:r>
              <a:rPr lang="en-US" sz="1700" b="1" dirty="0">
                <a:solidFill>
                  <a:srgbClr val="1B2B34"/>
                </a:solidFill>
                <a:latin typeface="Cambria" pitchFamily="34" charset="0"/>
                <a:ea typeface="Cambria" pitchFamily="34" charset="-122"/>
                <a:cs typeface="Cambria" pitchFamily="34" charset="-120"/>
              </a:rPr>
              <a:t>No invented content</a:t>
            </a:r>
            <a:endParaRPr lang="en-US" sz="1700" dirty="0"/>
          </a:p>
        </p:txBody>
      </p:sp>
      <p:sp>
        <p:nvSpPr>
          <p:cNvPr id="13" name="Text 10"/>
          <p:cNvSpPr txBox="1"/>
          <p:nvPr/>
        </p:nvSpPr>
        <p:spPr>
          <a:xfrm>
            <a:off x="5440680" y="1783080"/>
            <a:ext cx="3063240" cy="7315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Draft syllabi are copied or templated, never generated; every unit names its source</a:t>
            </a:r>
            <a:endParaRPr lang="en-US" sz="1300" dirty="0"/>
          </a:p>
        </p:txBody>
      </p:sp>
      <p:sp>
        <p:nvSpPr>
          <p:cNvPr id="14" name="risk 3"/>
          <p:cNvSpPr/>
          <p:nvPr/>
        </p:nvSpPr>
        <p:spPr>
          <a:xfrm>
            <a:off x="457200" y="2788920"/>
            <a:ext cx="4023360" cy="1508760"/>
          </a:xfrm>
          <a:prstGeom prst="roundRect">
            <a:avLst>
              <a:gd name="adj" fmla="val 4848"/>
            </a:avLst>
          </a:prstGeom>
          <a:solidFill>
            <a:srgbClr val="E3F1F0"/>
          </a:solidFill>
          <a:ln w="12700">
            <a:solidFill>
              <a:srgbClr val="E3F1F0"/>
            </a:solidFill>
            <a:prstDash val="solid"/>
          </a:ln>
        </p:spPr>
      </p:sp>
      <p:sp>
        <p:nvSpPr>
          <p:cNvPr id="15" name="badge 3"/>
          <p:cNvSpPr/>
          <p:nvPr/>
        </p:nvSpPr>
        <p:spPr>
          <a:xfrm>
            <a:off x="685800" y="3017520"/>
            <a:ext cx="384048" cy="384048"/>
          </a:xfrm>
          <a:prstGeom prst="ellipse">
            <a:avLst/>
          </a:prstGeom>
          <a:solidFill>
            <a:srgbClr val="0E7C7B"/>
          </a:solidFill>
          <a:ln w="12700">
            <a:solidFill>
              <a:srgbClr val="0E7C7B"/>
            </a:solidFill>
            <a:prstDash val="solid"/>
          </a:ln>
        </p:spPr>
      </p:sp>
      <p:sp>
        <p:nvSpPr>
          <p:cNvPr id="16" name="Text 13"/>
          <p:cNvSpPr txBox="1"/>
          <p:nvPr/>
        </p:nvSpPr>
        <p:spPr>
          <a:xfrm>
            <a:off x="68580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234440" y="3017520"/>
            <a:ext cx="3017520" cy="384048"/>
          </a:xfrm>
          <a:prstGeom prst="rect">
            <a:avLst/>
          </a:prstGeom>
          <a:noFill/>
          <a:ln/>
        </p:spPr>
        <p:txBody>
          <a:bodyPr wrap="square" lIns="0" tIns="0" rIns="0" bIns="0" rtlCol="0" anchor="ctr"/>
          <a:lstStyle/>
          <a:p>
            <a:pPr indent="0" marL="0">
              <a:buNone/>
            </a:pPr>
            <a:r>
              <a:rPr lang="en-US" sz="1700" b="1" dirty="0">
                <a:solidFill>
                  <a:srgbClr val="1B2B34"/>
                </a:solidFill>
                <a:latin typeface="Cambria" pitchFamily="34" charset="0"/>
                <a:ea typeface="Cambria" pitchFamily="34" charset="-122"/>
                <a:cs typeface="Cambria" pitchFamily="34" charset="-120"/>
              </a:rPr>
              <a:t>Human in the loop</a:t>
            </a:r>
            <a:endParaRPr lang="en-US" sz="1700" dirty="0"/>
          </a:p>
        </p:txBody>
      </p:sp>
      <p:sp>
        <p:nvSpPr>
          <p:cNvPr id="18" name="Text 15"/>
          <p:cNvSpPr txBox="1"/>
          <p:nvPr/>
        </p:nvSpPr>
        <p:spPr>
          <a:xfrm>
            <a:off x="1234440" y="3474720"/>
            <a:ext cx="3063240" cy="7315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Outputs are drafts for the Board of Studies; the UI warns against automatic course cuts</a:t>
            </a:r>
            <a:endParaRPr lang="en-US" sz="1300" dirty="0"/>
          </a:p>
        </p:txBody>
      </p:sp>
      <p:sp>
        <p:nvSpPr>
          <p:cNvPr id="19" name="risk 4"/>
          <p:cNvSpPr/>
          <p:nvPr/>
        </p:nvSpPr>
        <p:spPr>
          <a:xfrm>
            <a:off x="4663440" y="2788920"/>
            <a:ext cx="4023360" cy="1508760"/>
          </a:xfrm>
          <a:prstGeom prst="roundRect">
            <a:avLst>
              <a:gd name="adj" fmla="val 4848"/>
            </a:avLst>
          </a:prstGeom>
          <a:solidFill>
            <a:srgbClr val="E3F1F0"/>
          </a:solidFill>
          <a:ln w="12700">
            <a:solidFill>
              <a:srgbClr val="E3F1F0"/>
            </a:solidFill>
            <a:prstDash val="solid"/>
          </a:ln>
        </p:spPr>
      </p:sp>
      <p:sp>
        <p:nvSpPr>
          <p:cNvPr id="20" name="badge 4"/>
          <p:cNvSpPr/>
          <p:nvPr/>
        </p:nvSpPr>
        <p:spPr>
          <a:xfrm>
            <a:off x="4892040" y="3017520"/>
            <a:ext cx="384048" cy="384048"/>
          </a:xfrm>
          <a:prstGeom prst="ellipse">
            <a:avLst/>
          </a:prstGeom>
          <a:solidFill>
            <a:srgbClr val="0E7C7B"/>
          </a:solidFill>
          <a:ln w="12700">
            <a:solidFill>
              <a:srgbClr val="0E7C7B"/>
            </a:solidFill>
            <a:prstDash val="solid"/>
          </a:ln>
        </p:spPr>
      </p:sp>
      <p:sp>
        <p:nvSpPr>
          <p:cNvPr id="21" name="Text 18"/>
          <p:cNvSpPr txBox="1"/>
          <p:nvPr/>
        </p:nvSpPr>
        <p:spPr>
          <a:xfrm>
            <a:off x="489204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5440680" y="3017520"/>
            <a:ext cx="3017520" cy="384048"/>
          </a:xfrm>
          <a:prstGeom prst="rect">
            <a:avLst/>
          </a:prstGeom>
          <a:noFill/>
          <a:ln/>
        </p:spPr>
        <p:txBody>
          <a:bodyPr wrap="square" lIns="0" tIns="0" rIns="0" bIns="0" rtlCol="0" anchor="ctr"/>
          <a:lstStyle/>
          <a:p>
            <a:pPr indent="0" marL="0">
              <a:buNone/>
            </a:pPr>
            <a:r>
              <a:rPr lang="en-US" sz="1700" b="1" dirty="0">
                <a:solidFill>
                  <a:srgbClr val="1B2B34"/>
                </a:solidFill>
                <a:latin typeface="Cambria" pitchFamily="34" charset="0"/>
                <a:ea typeface="Cambria" pitchFamily="34" charset="-122"/>
                <a:cs typeface="Cambria" pitchFamily="34" charset="-120"/>
              </a:rPr>
              <a:t>Fairness</a:t>
            </a:r>
            <a:endParaRPr lang="en-US" sz="1700" dirty="0"/>
          </a:p>
        </p:txBody>
      </p:sp>
      <p:sp>
        <p:nvSpPr>
          <p:cNvPr id="23" name="Text 20"/>
          <p:cNvSpPr txBox="1"/>
          <p:nvPr/>
        </p:nvSpPr>
        <p:spPr>
          <a:xfrm>
            <a:off x="5440680" y="3474720"/>
            <a:ext cx="3063240" cy="7315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Bloom accuracy ranges 0.692 (COMP) to 0.857 (MECHATRONICS); small programmes excluded from prerequisite checks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3200" b="1" dirty="0">
                <a:solidFill>
                  <a:srgbClr val="1B2B34"/>
                </a:solidFill>
                <a:latin typeface="Cambria" pitchFamily="34" charset="0"/>
                <a:ea typeface="Cambria" pitchFamily="34" charset="-122"/>
                <a:cs typeface="Cambria" pitchFamily="34" charset="-120"/>
              </a:rPr>
              <a:t>Limitations and next steps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3108960"/>
                <a:gridCol w="31089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Today</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Next step</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rgbClr val="0E7C7B"/>
                    </a:solidFill>
                  </a:tcPr>
                </a:tc>
              </a:tr>
              <a:tr h="566928">
                <a:tc>
                  <a:txBody>
                    <a:bodyPr/>
                    <a:lstStyle/>
                    <a:p>
                      <a:pPr indent="0" marL="0">
                        <a:buNone/>
                      </a:pPr>
                      <a:r>
                        <a:rPr lang="en-US" sz="1400" b="1" dirty="0">
                          <a:solidFill>
                            <a:srgbClr val="1B2B34"/>
                          </a:solidFill>
                          <a:latin typeface="Calibri" pitchFamily="34" charset="0"/>
                          <a:ea typeface="Calibri" pitchFamily="34" charset="-122"/>
                          <a:cs typeface="Calibri" pitchFamily="34" charset="-120"/>
                        </a:rPr>
                        <a:t>Scanned booklets</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531 of 2,413 PDFs parsed</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Add OCR, then re-run coverage</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566928">
                <a:tc>
                  <a:txBody>
                    <a:bodyPr/>
                    <a:lstStyle/>
                    <a:p>
                      <a:pPr indent="0" marL="0">
                        <a:buNone/>
                      </a:pPr>
                      <a:r>
                        <a:rPr lang="en-US" sz="1400" b="1" dirty="0">
                          <a:solidFill>
                            <a:srgbClr val="1B2B34"/>
                          </a:solidFill>
                          <a:latin typeface="Calibri" pitchFamily="34" charset="0"/>
                          <a:ea typeface="Calibri" pitchFamily="34" charset="-122"/>
                          <a:cs typeface="Calibri" pitchFamily="34" charset="-120"/>
                        </a:rPr>
                        <a:t>Labels</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LLM-annotated, no human annotators</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Fill the 50-pair human spot check</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566928">
                <a:tc>
                  <a:txBody>
                    <a:bodyPr/>
                    <a:lstStyle/>
                    <a:p>
                      <a:pPr indent="0" marL="0">
                        <a:buNone/>
                      </a:pPr>
                      <a:r>
                        <a:rPr lang="en-US" sz="1400" b="1" dirty="0">
                          <a:solidFill>
                            <a:srgbClr val="1B2B34"/>
                          </a:solidFill>
                          <a:latin typeface="Calibri" pitchFamily="34" charset="0"/>
                          <a:ea typeface="Calibri" pitchFamily="34" charset="-122"/>
                          <a:cs typeface="Calibri" pitchFamily="34" charset="-120"/>
                        </a:rPr>
                        <a:t>Prerequisite flags</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precision 0.500, removal recall 0.711</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Faculty-confirmed prerequisite map</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r h="566928">
                <a:tc>
                  <a:txBody>
                    <a:bodyPr/>
                    <a:lstStyle/>
                    <a:p>
                      <a:pPr indent="0" marL="0">
                        <a:buNone/>
                      </a:pPr>
                      <a:r>
                        <a:rPr lang="en-US" sz="1400" b="1" dirty="0">
                          <a:solidFill>
                            <a:srgbClr val="1B2B34"/>
                          </a:solidFill>
                          <a:latin typeface="Calibri" pitchFamily="34" charset="0"/>
                          <a:ea typeface="Calibri" pitchFamily="34" charset="-122"/>
                          <a:cs typeface="Calibri" pitchFamily="34" charset="-120"/>
                        </a:rPr>
                        <a:t>Job descriptions</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synthetic samples in the demo</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c>
                  <a:txBody>
                    <a:bodyPr/>
                    <a:lstStyle/>
                    <a:p>
                      <a:pPr indent="0" marL="0">
                        <a:buNone/>
                      </a:pPr>
                      <a:r>
                        <a:rPr lang="en-US" sz="1400" dirty="0">
                          <a:solidFill>
                            <a:srgbClr val="1B2B34"/>
                          </a:solidFill>
                          <a:latin typeface="Calibri" pitchFamily="34" charset="0"/>
                          <a:ea typeface="Calibri" pitchFamily="34" charset="-122"/>
                          <a:cs typeface="Calibri" pitchFamily="34" charset="-120"/>
                        </a:rPr>
                        <a:t>Real postings; Group 10 integration</a:t>
                      </a:r>
                      <a:endParaRPr lang="en-US" sz="1400" dirty="0">
                        <a:latin typeface="Calibri" charset="0"/>
                        <a:ea typeface="Calibri" charset="0"/>
                        <a:cs typeface="Calibri" charset="0"/>
                      </a:endParaRPr>
                    </a:p>
                  </a:txBody>
                  <a:tcPr marL="91440" marR="91440" marT="45720" marB="45720"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tcPr>
                </a:tc>
              </a:tr>
            </a:tbl>
          </a:graphicData>
        </a:graphic>
      </p:graphicFrame>
      <p:sp>
        <p:nvSpPr>
          <p:cNvPr id="5" name="Text 1"/>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i="1" dirty="0">
                <a:solidFill>
                  <a:srgbClr val="0E7C7B"/>
                </a:solidFill>
                <a:latin typeface="Calibri" pitchFamily="34" charset="0"/>
                <a:ea typeface="Calibri" pitchFamily="34" charset="-122"/>
                <a:cs typeface="Calibri" pitchFamily="34" charset="-120"/>
              </a:rPr>
              <a:t>Every number in the reports and these slides is generated from results/*.json; skipped analyses are reported as not run.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Thank you · Questions?</a:t>
            </a:r>
            <a:endParaRPr lang="en-US" sz="4000" dirty="0"/>
          </a:p>
        </p:txBody>
      </p:sp>
      <p:sp>
        <p:nvSpPr>
          <p:cNvPr id="3" name="Text 0"/>
          <p:cNvSpPr/>
          <p:nvPr>
            <p:ph idx="101" type="body" hasCustomPrompt="1"/>
          </p:nvPr>
        </p:nvSpPr>
        <p:spPr>
          <a:xfrm>
            <a:off x="548640" y="2606040"/>
            <a:ext cx="8046720" cy="1737360"/>
          </a:xfrm>
          <a:prstGeom prst="rect">
            <a:avLst/>
          </a:prstGeom>
          <a:noFill/>
          <a:ln/>
        </p:spPr>
        <p:txBody>
          <a:bodyPr wrap="square" lIns="0" tIns="0" rIns="0" bIns="0" rtlCol="0" anchor="t"/>
          <a:lstStyle/>
          <a:p>
            <a:pPr indent="0" marL="0">
              <a:buNone/>
            </a:pPr>
            <a:r>
              <a:rPr lang="en-US" sz="1800" dirty="0">
                <a:solidFill>
                  <a:srgbClr val="CFE3E2"/>
                </a:solidFill>
                <a:latin typeface="Calibri" pitchFamily="34" charset="0"/>
                <a:ea typeface="Calibri" pitchFamily="34" charset="-122"/>
                <a:cs typeface="Calibri" pitchFamily="34" charset="-120"/>
              </a:rPr>
              <a:t>github.com/jainamsethia/Curriculum-Intelligence-Engine (tag v1.0)</a:t>
            </a:r>
            <a:endParaRPr lang="en-US" sz="1800" dirty="0"/>
          </a:p>
          <a:p>
            <a:pPr indent="0" marL="0">
              <a:buNone/>
            </a:pPr>
            <a:r>
              <a:rPr lang="en-US" sz="1400" dirty="0">
                <a:solidFill>
                  <a:srgbClr val="9FC3C1"/>
                </a:solidFill>
                <a:latin typeface="Calibri" pitchFamily="34" charset="0"/>
                <a:ea typeface="Calibri" pitchFamily="34" charset="-122"/>
                <a:cs typeface="Calibri" pitchFamily="34" charset="-120"/>
              </a:rPr>
              <a:t>36 tests pass; a clean clone reproduces all 62 result files</a:t>
            </a:r>
            <a:endParaRPr lang="en-US" sz="1800" dirty="0"/>
          </a:p>
          <a:p>
            <a:pPr indent="0" marL="0">
              <a:buNone/>
            </a:pPr>
            <a:r>
              <a:rPr lang="en-US" sz="1200" dirty="0">
                <a:solidFill>
                  <a:srgbClr val="9FC3C1"/>
                </a:solidFill>
                <a:latin typeface="Calibri" pitchFamily="34" charset="0"/>
                <a:ea typeface="Calibri" pitchFamily="34" charset="-122"/>
                <a:cs typeface="Calibri" pitchFamily="34" charset="-120"/>
              </a:rPr>
              <a:t>Code and text written with AI assistance (Claude); reference labels are LLM-annotated.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Curriculum Intelligence Engine - final presentation</dc:title>
  <dc:subject>PptxGenJS Presentation</dc:subject>
  <dc:creator>Group 9 (J048, J049, J050, J052, J053)</dc:creator>
  <cp:lastModifiedBy>Group 9 (J048, J049, J050, J052, J053)</cp:lastModifiedBy>
  <cp:revision>1</cp:revision>
  <dcterms:created xsi:type="dcterms:W3CDTF">2026-10-20T18:21:06Z</dcterms:created>
  <dcterms:modified xsi:type="dcterms:W3CDTF">2026-10-20T18:21:06Z</dcterms:modified>
</cp:coreProperties>
</file>